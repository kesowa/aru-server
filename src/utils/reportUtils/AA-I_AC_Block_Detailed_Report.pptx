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906000" cy="6858000" type="A4"/>
  <p:notesSz cx="9906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30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44868" y="4849367"/>
            <a:ext cx="2722245" cy="1620520"/>
          </a:xfrm>
          <a:custGeom>
            <a:avLst/>
            <a:gdLst/>
            <a:ahLst/>
            <a:cxnLst/>
            <a:rect l="l" t="t" r="r" b="b"/>
            <a:pathLst>
              <a:path w="2722245" h="1620520">
                <a:moveTo>
                  <a:pt x="2721864" y="0"/>
                </a:moveTo>
                <a:lnTo>
                  <a:pt x="0" y="0"/>
                </a:lnTo>
                <a:lnTo>
                  <a:pt x="0" y="1620011"/>
                </a:lnTo>
                <a:lnTo>
                  <a:pt x="2721864" y="1620011"/>
                </a:lnTo>
                <a:lnTo>
                  <a:pt x="2721864" y="0"/>
                </a:lnTo>
                <a:close/>
              </a:path>
            </a:pathLst>
          </a:custGeom>
          <a:solidFill>
            <a:srgbClr val="FFF1CC">
              <a:alpha val="5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62275" y="1197102"/>
            <a:ext cx="3981450" cy="126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2287" y="1209294"/>
            <a:ext cx="7233284" cy="275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31985" y="6601764"/>
            <a:ext cx="57848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subhendu.panja@shanta.in" TargetMode="External"/><Relationship Id="rId7" Type="http://schemas.openxmlformats.org/officeDocument/2006/relationships/image" Target="../media/image4.png"/><Relationship Id="rId2" Type="http://schemas.openxmlformats.org/officeDocument/2006/relationships/hyperlink" Target="mailto:akash.adhikary@shanta.i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10" Type="http://schemas.openxmlformats.org/officeDocument/2006/relationships/image" Target="../media/image15.png"/><Relationship Id="rId4" Type="http://schemas.openxmlformats.org/officeDocument/2006/relationships/image" Target="../media/image11.jp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6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9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7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1.jp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10" Type="http://schemas.openxmlformats.org/officeDocument/2006/relationships/image" Target="../media/image15.png"/><Relationship Id="rId4" Type="http://schemas.openxmlformats.org/officeDocument/2006/relationships/image" Target="../media/image11.jpg"/><Relationship Id="rId9" Type="http://schemas.openxmlformats.org/officeDocument/2006/relationships/image" Target="../media/image38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jpg"/><Relationship Id="rId7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0.jp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2.png"/><Relationship Id="rId7" Type="http://schemas.openxmlformats.org/officeDocument/2006/relationships/image" Target="../media/image7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3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39.png"/><Relationship Id="rId4" Type="http://schemas.openxmlformats.org/officeDocument/2006/relationships/image" Target="../media/image11.jp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39.png"/><Relationship Id="rId4" Type="http://schemas.openxmlformats.org/officeDocument/2006/relationships/image" Target="../media/image11.jp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46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9.png"/><Relationship Id="rId4" Type="http://schemas.openxmlformats.org/officeDocument/2006/relationships/image" Target="../media/image11.jp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5" Type="http://schemas.openxmlformats.org/officeDocument/2006/relationships/image" Target="../media/image39.png"/><Relationship Id="rId4" Type="http://schemas.openxmlformats.org/officeDocument/2006/relationships/image" Target="../media/image11.jp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8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g"/><Relationship Id="rId5" Type="http://schemas.openxmlformats.org/officeDocument/2006/relationships/image" Target="../media/image39.png"/><Relationship Id="rId4" Type="http://schemas.openxmlformats.org/officeDocument/2006/relationships/image" Target="../media/image11.jpg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52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image" Target="../media/image15.png"/><Relationship Id="rId4" Type="http://schemas.openxmlformats.org/officeDocument/2006/relationships/image" Target="../media/image11.jp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3" Type="http://schemas.openxmlformats.org/officeDocument/2006/relationships/image" Target="../media/image16.png"/><Relationship Id="rId7" Type="http://schemas.openxmlformats.org/officeDocument/2006/relationships/image" Target="../media/image54.jpg"/><Relationship Id="rId12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7.png"/><Relationship Id="rId5" Type="http://schemas.openxmlformats.org/officeDocument/2006/relationships/image" Target="../media/image53.jpg"/><Relationship Id="rId10" Type="http://schemas.openxmlformats.org/officeDocument/2006/relationships/image" Target="../media/image12.png"/><Relationship Id="rId4" Type="http://schemas.openxmlformats.org/officeDocument/2006/relationships/image" Target="../media/image11.jpg"/><Relationship Id="rId9" Type="http://schemas.openxmlformats.org/officeDocument/2006/relationships/image" Target="../media/image56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59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jpg"/><Relationship Id="rId10" Type="http://schemas.openxmlformats.org/officeDocument/2006/relationships/image" Target="../media/image15.png"/><Relationship Id="rId4" Type="http://schemas.openxmlformats.org/officeDocument/2006/relationships/image" Target="../media/image11.jpg"/><Relationship Id="rId9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8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g"/><Relationship Id="rId5" Type="http://schemas.openxmlformats.org/officeDocument/2006/relationships/image" Target="../media/image39.png"/><Relationship Id="rId4" Type="http://schemas.openxmlformats.org/officeDocument/2006/relationships/image" Target="../media/image11.jp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76494" y="2596388"/>
          <a:ext cx="4227829" cy="37238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7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2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1000" b="1" spc="-5" dirty="0">
                          <a:latin typeface="Calibri"/>
                          <a:cs typeface="Calibri"/>
                        </a:rPr>
                        <a:t>BLOCK/AC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4020">
                        <a:lnSpc>
                          <a:spcPct val="100000"/>
                        </a:lnSpc>
                      </a:pPr>
                      <a:r>
                        <a:rPr sz="1000" b="1" spc="-5" dirty="0">
                          <a:latin typeface="Calibri"/>
                          <a:cs typeface="Calibri"/>
                        </a:rPr>
                        <a:t>Akash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Adhikary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Subhendu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Kumar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Panja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9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dt.</a:t>
                      </a:r>
                      <a:r>
                        <a:rPr sz="1100" b="1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12/01/2023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29870">
                        <a:lnSpc>
                          <a:spcPct val="100000"/>
                        </a:lnSpc>
                      </a:pPr>
                      <a:r>
                        <a:rPr sz="900" b="1" spc="-5" dirty="0">
                          <a:latin typeface="Calibri"/>
                          <a:cs typeface="Calibri"/>
                        </a:rPr>
                        <a:t>P:</a:t>
                      </a:r>
                      <a:r>
                        <a:rPr sz="9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+91</a:t>
                      </a:r>
                      <a:r>
                        <a:rPr sz="9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9163827816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68910" marR="160020" algn="ctr">
                        <a:lnSpc>
                          <a:spcPct val="100699"/>
                        </a:lnSpc>
                      </a:pPr>
                      <a:r>
                        <a:rPr sz="900" b="1" dirty="0">
                          <a:latin typeface="Calibri"/>
                          <a:cs typeface="Calibri"/>
                        </a:rPr>
                        <a:t>Y:</a:t>
                      </a:r>
                      <a:r>
                        <a:rPr sz="9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u="sng" spc="-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2"/>
                        </a:rPr>
                        <a:t>akash.adhikary@shanta.in </a:t>
                      </a:r>
                      <a:r>
                        <a:rPr sz="900" spc="-190" dirty="0">
                          <a:solidFill>
                            <a:srgbClr val="0462C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u="sng" spc="-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subhendu.panja@shanta.in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3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05410" marR="154940">
                        <a:lnSpc>
                          <a:spcPct val="114999"/>
                        </a:lnSpc>
                        <a:spcBef>
                          <a:spcPts val="695"/>
                        </a:spcBef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STATEMENT</a:t>
                      </a:r>
                      <a:r>
                        <a:rPr sz="10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 CO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NF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ID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TI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ITY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3345" marR="82550" algn="just">
                        <a:lnSpc>
                          <a:spcPct val="115199"/>
                        </a:lnSpc>
                        <a:spcBef>
                          <a:spcPts val="795"/>
                        </a:spcBef>
                      </a:pPr>
                      <a:r>
                        <a:rPr sz="900" spc="-5" dirty="0">
                          <a:latin typeface="Calibri"/>
                          <a:cs typeface="Calibri"/>
                        </a:rPr>
                        <a:t>This report is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part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of an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ongoing contract with Newtown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Kolkata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Authority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issued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for</a:t>
                      </a:r>
                      <a:r>
                        <a:rPr sz="900" spc="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parties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under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contract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only.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Terms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Conditions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of</a:t>
                      </a:r>
                      <a:r>
                        <a:rPr sz="900" spc="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contract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preside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over all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parties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actors.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59" y="2602992"/>
            <a:ext cx="5003292" cy="37216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1980" y="949452"/>
            <a:ext cx="719327" cy="7894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61350" y="1602485"/>
            <a:ext cx="1366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Arial MT"/>
                <a:cs typeface="Arial MT"/>
              </a:rPr>
              <a:t>FSIP</a:t>
            </a:r>
            <a:r>
              <a:rPr sz="1200" spc="-5" dirty="0">
                <a:solidFill>
                  <a:srgbClr val="7E7E7E"/>
                </a:solidFill>
                <a:latin typeface="Arial MT"/>
                <a:cs typeface="Arial MT"/>
              </a:rPr>
              <a:t>L/NKDA/R/003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72143" y="893063"/>
            <a:ext cx="719327" cy="7193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8648" y="1077467"/>
            <a:ext cx="4518659" cy="18714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7230">
              <a:lnSpc>
                <a:spcPts val="3300"/>
              </a:lnSpc>
              <a:spcBef>
                <a:spcPts val="95"/>
              </a:spcBef>
            </a:pPr>
            <a:r>
              <a:rPr spc="-5" dirty="0"/>
              <a:t>ACTION</a:t>
            </a:r>
            <a:r>
              <a:rPr spc="-30" dirty="0"/>
              <a:t> </a:t>
            </a:r>
            <a:r>
              <a:rPr spc="-10" dirty="0"/>
              <a:t>AREA</a:t>
            </a:r>
            <a:r>
              <a:rPr dirty="0"/>
              <a:t> </a:t>
            </a:r>
            <a:r>
              <a:rPr spc="-5" dirty="0"/>
              <a:t>I</a:t>
            </a:r>
          </a:p>
          <a:p>
            <a:pPr marL="374650">
              <a:lnSpc>
                <a:spcPts val="6420"/>
              </a:lnSpc>
            </a:pPr>
            <a:r>
              <a:rPr sz="5400" b="1" dirty="0">
                <a:solidFill>
                  <a:srgbClr val="49442A"/>
                </a:solidFill>
                <a:latin typeface="Arial"/>
                <a:cs typeface="Arial"/>
              </a:rPr>
              <a:t>BLOCK</a:t>
            </a:r>
            <a:r>
              <a:rPr sz="5400" b="1" spc="-295" dirty="0">
                <a:solidFill>
                  <a:srgbClr val="49442A"/>
                </a:solidFill>
                <a:latin typeface="Arial"/>
                <a:cs typeface="Arial"/>
              </a:rPr>
              <a:t> </a:t>
            </a:r>
            <a:r>
              <a:rPr sz="5400" b="1" dirty="0">
                <a:solidFill>
                  <a:srgbClr val="49442A"/>
                </a:solidFill>
                <a:latin typeface="Arial"/>
                <a:cs typeface="Arial"/>
              </a:rPr>
              <a:t>AC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50820" y="486143"/>
            <a:ext cx="4893945" cy="779145"/>
            <a:chOff x="2750820" y="486143"/>
            <a:chExt cx="4893945" cy="779145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50820" y="486143"/>
              <a:ext cx="4893563" cy="7787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76728" y="510539"/>
              <a:ext cx="4792218" cy="67741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960623" y="583438"/>
            <a:ext cx="4413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 Light"/>
                <a:cs typeface="Calibri Light"/>
              </a:rPr>
              <a:t>Geospatial</a:t>
            </a:r>
            <a:r>
              <a:rPr sz="2400" spc="-30" dirty="0">
                <a:latin typeface="Calibri Light"/>
                <a:cs typeface="Calibri Light"/>
              </a:rPr>
              <a:t> </a:t>
            </a:r>
            <a:r>
              <a:rPr sz="2400" spc="-10" dirty="0">
                <a:latin typeface="Calibri Light"/>
                <a:cs typeface="Calibri Light"/>
              </a:rPr>
              <a:t>Intelligence</a:t>
            </a:r>
            <a:r>
              <a:rPr sz="2400" spc="-35" dirty="0">
                <a:latin typeface="Calibri Light"/>
                <a:cs typeface="Calibri Light"/>
              </a:rPr>
              <a:t> </a:t>
            </a:r>
            <a:r>
              <a:rPr sz="2400" spc="-5" dirty="0">
                <a:latin typeface="Calibri Light"/>
                <a:cs typeface="Calibri Light"/>
              </a:rPr>
              <a:t>Block</a:t>
            </a:r>
            <a:r>
              <a:rPr sz="2400" spc="-15" dirty="0">
                <a:latin typeface="Calibri Light"/>
                <a:cs typeface="Calibri Light"/>
              </a:rPr>
              <a:t> Report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3347" y="2005583"/>
            <a:ext cx="3467100" cy="257708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417817" y="320293"/>
            <a:ext cx="2844800" cy="1287780"/>
            <a:chOff x="6417817" y="320293"/>
            <a:chExt cx="2844800" cy="1287780"/>
          </a:xfrm>
        </p:grpSpPr>
        <p:sp>
          <p:nvSpPr>
            <p:cNvPr id="4" name="object 4"/>
            <p:cNvSpPr/>
            <p:nvPr/>
          </p:nvSpPr>
          <p:spPr>
            <a:xfrm>
              <a:off x="6430517" y="332993"/>
              <a:ext cx="2819400" cy="1262380"/>
            </a:xfrm>
            <a:custGeom>
              <a:avLst/>
              <a:gdLst/>
              <a:ahLst/>
              <a:cxnLst/>
              <a:rect l="l" t="t" r="r" b="b"/>
              <a:pathLst>
                <a:path w="2819400" h="1262380">
                  <a:moveTo>
                    <a:pt x="2819399" y="0"/>
                  </a:moveTo>
                  <a:lnTo>
                    <a:pt x="0" y="0"/>
                  </a:lnTo>
                  <a:lnTo>
                    <a:pt x="0" y="1261871"/>
                  </a:lnTo>
                  <a:lnTo>
                    <a:pt x="2819399" y="1261871"/>
                  </a:lnTo>
                  <a:lnTo>
                    <a:pt x="281939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0517" y="332993"/>
              <a:ext cx="2819400" cy="1262380"/>
            </a:xfrm>
            <a:custGeom>
              <a:avLst/>
              <a:gdLst/>
              <a:ahLst/>
              <a:cxnLst/>
              <a:rect l="l" t="t" r="r" b="b"/>
              <a:pathLst>
                <a:path w="2819400" h="1262380">
                  <a:moveTo>
                    <a:pt x="0" y="1261871"/>
                  </a:moveTo>
                  <a:lnTo>
                    <a:pt x="2819399" y="1261871"/>
                  </a:lnTo>
                  <a:lnTo>
                    <a:pt x="2819399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ln w="254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97954" y="482600"/>
            <a:ext cx="17621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marR="5080" indent="-215265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49442A"/>
                </a:solidFill>
                <a:latin typeface="Arial"/>
                <a:cs typeface="Arial"/>
              </a:rPr>
              <a:t>Summary  </a:t>
            </a:r>
            <a:r>
              <a:rPr sz="3000" b="1" dirty="0">
                <a:solidFill>
                  <a:srgbClr val="49442A"/>
                </a:solidFill>
                <a:latin typeface="Arial"/>
                <a:cs typeface="Arial"/>
              </a:rPr>
              <a:t>Report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39914" y="621537"/>
            <a:ext cx="1890395" cy="1093470"/>
            <a:chOff x="7439914" y="621537"/>
            <a:chExt cx="1890395" cy="1093470"/>
          </a:xfrm>
        </p:grpSpPr>
        <p:sp>
          <p:nvSpPr>
            <p:cNvPr id="8" name="object 8"/>
            <p:cNvSpPr/>
            <p:nvPr/>
          </p:nvSpPr>
          <p:spPr>
            <a:xfrm>
              <a:off x="7446264" y="1630679"/>
              <a:ext cx="1801495" cy="78105"/>
            </a:xfrm>
            <a:custGeom>
              <a:avLst/>
              <a:gdLst/>
              <a:ahLst/>
              <a:cxnLst/>
              <a:rect l="l" t="t" r="r" b="b"/>
              <a:pathLst>
                <a:path w="1801495" h="78105">
                  <a:moveTo>
                    <a:pt x="1801368" y="0"/>
                  </a:moveTo>
                  <a:lnTo>
                    <a:pt x="0" y="0"/>
                  </a:lnTo>
                  <a:lnTo>
                    <a:pt x="0" y="77724"/>
                  </a:lnTo>
                  <a:lnTo>
                    <a:pt x="1801368" y="77724"/>
                  </a:lnTo>
                  <a:lnTo>
                    <a:pt x="1801368" y="0"/>
                  </a:lnTo>
                  <a:close/>
                </a:path>
              </a:pathLst>
            </a:custGeom>
            <a:solidFill>
              <a:srgbClr val="69C6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46264" y="1630679"/>
              <a:ext cx="1801495" cy="78105"/>
            </a:xfrm>
            <a:custGeom>
              <a:avLst/>
              <a:gdLst/>
              <a:ahLst/>
              <a:cxnLst/>
              <a:rect l="l" t="t" r="r" b="b"/>
              <a:pathLst>
                <a:path w="1801495" h="78105">
                  <a:moveTo>
                    <a:pt x="0" y="77724"/>
                  </a:moveTo>
                  <a:lnTo>
                    <a:pt x="1801368" y="77724"/>
                  </a:lnTo>
                  <a:lnTo>
                    <a:pt x="1801368" y="0"/>
                  </a:lnTo>
                  <a:lnTo>
                    <a:pt x="0" y="0"/>
                  </a:lnTo>
                  <a:lnTo>
                    <a:pt x="0" y="77724"/>
                  </a:lnTo>
                  <a:close/>
                </a:path>
              </a:pathLst>
            </a:custGeom>
            <a:ln w="12700">
              <a:solidFill>
                <a:srgbClr val="79CD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247632" y="627887"/>
              <a:ext cx="76200" cy="1080770"/>
            </a:xfrm>
            <a:custGeom>
              <a:avLst/>
              <a:gdLst/>
              <a:ahLst/>
              <a:cxnLst/>
              <a:rect l="l" t="t" r="r" b="b"/>
              <a:pathLst>
                <a:path w="76200" h="1080770">
                  <a:moveTo>
                    <a:pt x="76200" y="0"/>
                  </a:moveTo>
                  <a:lnTo>
                    <a:pt x="0" y="0"/>
                  </a:lnTo>
                  <a:lnTo>
                    <a:pt x="0" y="1080515"/>
                  </a:lnTo>
                  <a:lnTo>
                    <a:pt x="76200" y="108051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69C6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47632" y="627887"/>
              <a:ext cx="76200" cy="1080770"/>
            </a:xfrm>
            <a:custGeom>
              <a:avLst/>
              <a:gdLst/>
              <a:ahLst/>
              <a:cxnLst/>
              <a:rect l="l" t="t" r="r" b="b"/>
              <a:pathLst>
                <a:path w="76200" h="1080770">
                  <a:moveTo>
                    <a:pt x="0" y="1080515"/>
                  </a:moveTo>
                  <a:lnTo>
                    <a:pt x="76200" y="1080515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1080515"/>
                  </a:lnTo>
                  <a:close/>
                </a:path>
              </a:pathLst>
            </a:custGeom>
            <a:ln w="12700">
              <a:solidFill>
                <a:srgbClr val="79CD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41997" y="5228082"/>
            <a:ext cx="2212975" cy="407034"/>
          </a:xfrm>
          <a:prstGeom prst="rect">
            <a:avLst/>
          </a:prstGeom>
          <a:solidFill>
            <a:srgbClr val="69C6E9"/>
          </a:solidFill>
          <a:ln w="25400">
            <a:solidFill>
              <a:srgbClr val="79CDEB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36600" marR="490220" indent="-239395">
              <a:lnSpc>
                <a:spcPct val="100000"/>
              </a:lnSpc>
              <a:spcBef>
                <a:spcPts val="250"/>
              </a:spcBef>
            </a:pPr>
            <a:r>
              <a:rPr sz="1100" b="1" spc="-10" dirty="0">
                <a:latin typeface="Arial"/>
                <a:cs typeface="Arial"/>
              </a:rPr>
              <a:t>ACTION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AREA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-01 </a:t>
            </a:r>
            <a:r>
              <a:rPr sz="1100" b="1" spc="-290" dirty="0"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52525"/>
                </a:solidFill>
                <a:latin typeface="Arial"/>
                <a:cs typeface="Arial"/>
              </a:rPr>
              <a:t>AC</a:t>
            </a:r>
            <a:r>
              <a:rPr sz="1100" b="1" spc="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52525"/>
                </a:solidFill>
                <a:latin typeface="Arial"/>
                <a:cs typeface="Arial"/>
              </a:rPr>
              <a:t>BLOCK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19328" y="399244"/>
          <a:ext cx="5052060" cy="3961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8354">
                <a:tc rowSpan="2" gridSpan="2"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350" b="1" spc="-2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35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30" dirty="0">
                          <a:latin typeface="Calibri"/>
                          <a:cs typeface="Calibri"/>
                        </a:rPr>
                        <a:t>Area</a:t>
                      </a:r>
                      <a:r>
                        <a:rPr sz="135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2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35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25" dirty="0">
                          <a:latin typeface="Calibri"/>
                          <a:cs typeface="Calibri"/>
                        </a:rPr>
                        <a:t>Block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3D3D3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Sq</a:t>
                      </a:r>
                      <a:r>
                        <a:rPr sz="1250" spc="15" dirty="0">
                          <a:latin typeface="Calibri"/>
                          <a:cs typeface="Calibri"/>
                        </a:rPr>
                        <a:t>.K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m.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Sq</a:t>
                      </a:r>
                      <a:r>
                        <a:rPr sz="1250" spc="1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50" spc="-7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t.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83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3D3D3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0.14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65" dirty="0">
                          <a:latin typeface="Calibri"/>
                          <a:cs typeface="Calibri"/>
                        </a:rPr>
                        <a:t>142129.41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5" dirty="0">
                          <a:latin typeface="Calibri"/>
                          <a:cs typeface="Calibri"/>
                        </a:rPr>
                        <a:t>35.12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56">
                <a:tc gridSpan="2"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50" b="1" spc="-1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250" b="1" spc="-2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50" b="1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250" b="1" spc="-3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b="1" spc="-2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250" b="1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25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3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250" b="1" spc="2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50" b="1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250" b="1" spc="-2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k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515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50" b="1" spc="-3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250" b="1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250" b="1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50" b="1" spc="-4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b="1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5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b="1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b="1" spc="3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a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50" b="1" spc="-3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50" b="1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250" b="1" spc="-2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50" b="1" spc="-3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5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2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b="1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b="1" spc="3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b="1" dirty="0">
                          <a:latin typeface="Calibri"/>
                          <a:cs typeface="Calibri"/>
                        </a:rPr>
                        <a:t>a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36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1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Sq</a:t>
                      </a:r>
                      <a:r>
                        <a:rPr sz="1250" spc="1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50" spc="-7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t.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1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80" dirty="0">
                          <a:latin typeface="Calibri"/>
                          <a:cs typeface="Calibri"/>
                        </a:rPr>
                        <a:t>100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98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0" dirty="0">
                          <a:latin typeface="Calibri"/>
                          <a:cs typeface="Calibri"/>
                        </a:rPr>
                        <a:t>Private</a:t>
                      </a:r>
                      <a:r>
                        <a:rPr sz="12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Space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36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0" dirty="0">
                          <a:latin typeface="Calibri"/>
                          <a:cs typeface="Calibri"/>
                        </a:rPr>
                        <a:t>Private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 Commercial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dirty="0">
                          <a:latin typeface="Calibri"/>
                          <a:cs typeface="Calibri"/>
                        </a:rPr>
                        <a:t>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15" dirty="0">
                          <a:latin typeface="Calibri"/>
                          <a:cs typeface="Calibri"/>
                        </a:rPr>
                        <a:t>Residential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65" dirty="0">
                          <a:latin typeface="Calibri"/>
                          <a:cs typeface="Calibri"/>
                        </a:rPr>
                        <a:t>76473.75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5" dirty="0">
                          <a:latin typeface="Calibri"/>
                          <a:cs typeface="Calibri"/>
                        </a:rPr>
                        <a:t>18.90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5" dirty="0">
                          <a:latin typeface="Calibri"/>
                          <a:cs typeface="Calibri"/>
                        </a:rPr>
                        <a:t>53.81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4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250" spc="1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t.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mm</a:t>
                      </a:r>
                      <a:r>
                        <a:rPr sz="125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dirty="0">
                          <a:latin typeface="Calibri"/>
                          <a:cs typeface="Calibri"/>
                        </a:rPr>
                        <a:t>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50" spc="-3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ous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2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250" spc="1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x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50" dirty="0">
                          <a:latin typeface="Calibri"/>
                          <a:cs typeface="Calibri"/>
                        </a:rPr>
                        <a:t>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360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1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ub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li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Sp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3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98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Calibri"/>
                          <a:cs typeface="Calibri"/>
                        </a:rPr>
                        <a:t>Government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65" dirty="0">
                          <a:latin typeface="Calibri"/>
                          <a:cs typeface="Calibri"/>
                        </a:rPr>
                        <a:t>14259.07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3.52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5" dirty="0">
                          <a:latin typeface="Calibri"/>
                          <a:cs typeface="Calibri"/>
                        </a:rPr>
                        <a:t>10.03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32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7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ra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60" dirty="0">
                          <a:latin typeface="Calibri"/>
                          <a:cs typeface="Calibri"/>
                        </a:rPr>
                        <a:t>19,495.55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4.82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5" dirty="0">
                          <a:latin typeface="Calibri"/>
                          <a:cs typeface="Calibri"/>
                        </a:rPr>
                        <a:t>13.72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8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30" dirty="0">
                          <a:latin typeface="Calibri"/>
                          <a:cs typeface="Calibri"/>
                        </a:rPr>
                        <a:t>Footpath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65" dirty="0">
                          <a:latin typeface="Calibri"/>
                          <a:cs typeface="Calibri"/>
                        </a:rPr>
                        <a:t>4873.41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1.20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3.43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9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Calibri"/>
                          <a:cs typeface="Calibri"/>
                        </a:rPr>
                        <a:t>Cycle</a:t>
                      </a:r>
                      <a:r>
                        <a:rPr sz="12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45" dirty="0">
                          <a:latin typeface="Calibri"/>
                          <a:cs typeface="Calibri"/>
                        </a:rPr>
                        <a:t>Track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60" dirty="0">
                          <a:latin typeface="Calibri"/>
                          <a:cs typeface="Calibri"/>
                        </a:rPr>
                        <a:t>584.46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0.14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0.41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8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1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ar</a:t>
                      </a:r>
                      <a:r>
                        <a:rPr sz="1250" spc="10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2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4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25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40" dirty="0">
                          <a:latin typeface="Calibri"/>
                          <a:cs typeface="Calibri"/>
                        </a:rPr>
                        <a:t>ee</a:t>
                      </a:r>
                      <a:r>
                        <a:rPr sz="1250" dirty="0">
                          <a:latin typeface="Calibri"/>
                          <a:cs typeface="Calibri"/>
                        </a:rPr>
                        <a:t>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65" dirty="0">
                          <a:latin typeface="Calibri"/>
                          <a:cs typeface="Calibri"/>
                        </a:rPr>
                        <a:t>14430.05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3.57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5" dirty="0">
                          <a:latin typeface="Calibri"/>
                          <a:cs typeface="Calibri"/>
                        </a:rPr>
                        <a:t>10.15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83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35" dirty="0">
                          <a:latin typeface="Calibri"/>
                          <a:cs typeface="Calibri"/>
                        </a:rPr>
                        <a:t>Waterbody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60" dirty="0">
                          <a:latin typeface="Calibri"/>
                          <a:cs typeface="Calibri"/>
                        </a:rPr>
                        <a:t>701.82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0.17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0.49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9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802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0" dirty="0">
                          <a:latin typeface="Calibri"/>
                          <a:cs typeface="Calibri"/>
                        </a:rPr>
                        <a:t>Other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65" dirty="0">
                          <a:latin typeface="Calibri"/>
                          <a:cs typeface="Calibri"/>
                        </a:rPr>
                        <a:t>11311.3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2.80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0" dirty="0">
                          <a:latin typeface="Calibri"/>
                          <a:cs typeface="Calibri"/>
                        </a:rPr>
                        <a:t>7.96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19327" y="4474457"/>
          <a:ext cx="5049520" cy="1440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64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235">
                <a:tc gridSpan="5"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50" b="1" spc="-50" dirty="0">
                          <a:latin typeface="Calibri"/>
                          <a:cs typeface="Calibri"/>
                        </a:rPr>
                        <a:t>Occupancy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255"/>
                        </a:lnSpc>
                        <a:spcBef>
                          <a:spcPts val="95"/>
                        </a:spcBef>
                      </a:pPr>
                      <a:r>
                        <a:rPr sz="1050" spc="-20" dirty="0">
                          <a:latin typeface="Calibri"/>
                          <a:cs typeface="Calibri"/>
                        </a:rPr>
                        <a:t>Visibly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Occupied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255"/>
                        </a:lnSpc>
                        <a:spcBef>
                          <a:spcPts val="9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050" spc="4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nd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050" spc="4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255"/>
                        </a:lnSpc>
                        <a:spcBef>
                          <a:spcPts val="95"/>
                        </a:spcBef>
                      </a:pPr>
                      <a:r>
                        <a:rPr sz="1050" spc="-20" dirty="0">
                          <a:latin typeface="Calibri"/>
                          <a:cs typeface="Calibri"/>
                        </a:rPr>
                        <a:t>Visibly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Vacant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255"/>
                        </a:lnSpc>
                        <a:spcBef>
                          <a:spcPts val="95"/>
                        </a:spcBef>
                      </a:pPr>
                      <a:r>
                        <a:rPr sz="1050" spc="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0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. 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94">
                <a:tc>
                  <a:txBody>
                    <a:bodyPr/>
                    <a:lstStyle/>
                    <a:p>
                      <a:pPr marL="19050">
                        <a:lnSpc>
                          <a:spcPts val="1255"/>
                        </a:lnSpc>
                        <a:spcBef>
                          <a:spcPts val="60"/>
                        </a:spcBef>
                      </a:pPr>
                      <a:r>
                        <a:rPr sz="1050" spc="-35" dirty="0">
                          <a:latin typeface="Calibri"/>
                          <a:cs typeface="Calibri"/>
                        </a:rPr>
                        <a:t>Private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Commercial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94">
                <a:tc>
                  <a:txBody>
                    <a:bodyPr/>
                    <a:lstStyle/>
                    <a:p>
                      <a:pPr marL="19050">
                        <a:lnSpc>
                          <a:spcPts val="1255"/>
                        </a:lnSpc>
                        <a:spcBef>
                          <a:spcPts val="60"/>
                        </a:spcBef>
                      </a:pPr>
                      <a:r>
                        <a:rPr sz="1050" spc="-25" dirty="0">
                          <a:latin typeface="Calibri"/>
                          <a:cs typeface="Calibri"/>
                        </a:rPr>
                        <a:t>Residential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85" dirty="0">
                          <a:latin typeface="Calibri"/>
                          <a:cs typeface="Calibri"/>
                        </a:rPr>
                        <a:t>157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85" dirty="0">
                          <a:latin typeface="Calibri"/>
                          <a:cs typeface="Calibri"/>
                        </a:rPr>
                        <a:t>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85" dirty="0">
                          <a:latin typeface="Calibri"/>
                          <a:cs typeface="Calibri"/>
                        </a:rPr>
                        <a:t>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85" dirty="0">
                          <a:latin typeface="Calibri"/>
                          <a:cs typeface="Calibri"/>
                        </a:rPr>
                        <a:t>229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952">
                <a:tc>
                  <a:txBody>
                    <a:bodyPr/>
                    <a:lstStyle/>
                    <a:p>
                      <a:pPr marL="19050">
                        <a:lnSpc>
                          <a:spcPts val="1255"/>
                        </a:lnSpc>
                        <a:spcBef>
                          <a:spcPts val="6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. </a:t>
                      </a:r>
                      <a:r>
                        <a:rPr sz="1050" spc="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050" spc="-55" dirty="0">
                          <a:latin typeface="Calibri"/>
                          <a:cs typeface="Calibri"/>
                        </a:rPr>
                        <a:t>mm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ia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952">
                <a:tc>
                  <a:txBody>
                    <a:bodyPr/>
                    <a:lstStyle/>
                    <a:p>
                      <a:pPr marL="19050">
                        <a:lnSpc>
                          <a:spcPts val="1255"/>
                        </a:lnSpc>
                        <a:spcBef>
                          <a:spcPts val="60"/>
                        </a:spcBef>
                      </a:pPr>
                      <a:r>
                        <a:rPr sz="1050" spc="-35" dirty="0">
                          <a:latin typeface="Calibri"/>
                          <a:cs typeface="Calibri"/>
                        </a:rPr>
                        <a:t>Housing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Complex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833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40" dirty="0">
                          <a:latin typeface="Calibri"/>
                          <a:cs typeface="Calibri"/>
                        </a:rPr>
                        <a:t>Government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000" spc="-85" dirty="0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19327" y="6059423"/>
            <a:ext cx="5041900" cy="60071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 marR="83820" algn="just">
              <a:lnSpc>
                <a:spcPct val="100000"/>
              </a:lnSpc>
              <a:spcBef>
                <a:spcPts val="320"/>
              </a:spcBef>
            </a:pPr>
            <a:r>
              <a:rPr sz="1100" b="1" spc="-5" dirty="0">
                <a:latin typeface="Calibri"/>
                <a:cs typeface="Calibri"/>
              </a:rPr>
              <a:t>**(Building Occupied: </a:t>
            </a:r>
            <a:r>
              <a:rPr sz="1100" spc="-5" dirty="0">
                <a:latin typeface="Calibri"/>
                <a:cs typeface="Calibri"/>
              </a:rPr>
              <a:t>Sanctioned Plot, Which </a:t>
            </a:r>
            <a:r>
              <a:rPr sz="1100" dirty="0">
                <a:latin typeface="Calibri"/>
                <a:cs typeface="Calibri"/>
              </a:rPr>
              <a:t>Have </a:t>
            </a:r>
            <a:r>
              <a:rPr sz="1100" spc="-5" dirty="0">
                <a:latin typeface="Calibri"/>
                <a:cs typeface="Calibri"/>
              </a:rPr>
              <a:t>Received Completion Certificate, 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Plot Availing Construction Power, Plot Availing Permanent Water Connection, </a:t>
            </a:r>
            <a:r>
              <a:rPr sz="1100" dirty="0">
                <a:latin typeface="Calibri"/>
                <a:cs typeface="Calibri"/>
              </a:rPr>
              <a:t>Per </a:t>
            </a:r>
            <a:r>
              <a:rPr sz="1100" spc="-5" dirty="0">
                <a:latin typeface="Calibri"/>
                <a:cs typeface="Calibri"/>
              </a:rPr>
              <a:t>Plot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Revenue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Tax,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Trade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License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Integrated</a:t>
            </a:r>
            <a:r>
              <a:rPr sz="1100" b="1" spc="-5" dirty="0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8090" y="4873828"/>
            <a:ext cx="15424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Calibri"/>
                <a:cs typeface="Calibri"/>
              </a:rPr>
              <a:t>Neighbourhood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Center: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44868" y="4538471"/>
            <a:ext cx="2722245" cy="277495"/>
          </a:xfrm>
          <a:custGeom>
            <a:avLst/>
            <a:gdLst/>
            <a:ahLst/>
            <a:cxnLst/>
            <a:rect l="l" t="t" r="r" b="b"/>
            <a:pathLst>
              <a:path w="2722245" h="277495">
                <a:moveTo>
                  <a:pt x="2721864" y="0"/>
                </a:moveTo>
                <a:lnTo>
                  <a:pt x="0" y="0"/>
                </a:lnTo>
                <a:lnTo>
                  <a:pt x="0" y="277367"/>
                </a:lnTo>
                <a:lnTo>
                  <a:pt x="2721864" y="277367"/>
                </a:lnTo>
                <a:lnTo>
                  <a:pt x="2721864" y="0"/>
                </a:lnTo>
                <a:close/>
              </a:path>
            </a:pathLst>
          </a:custGeom>
          <a:solidFill>
            <a:srgbClr val="3844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79740" y="4563871"/>
            <a:ext cx="455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Ot</a:t>
            </a:r>
            <a:r>
              <a:rPr sz="1200" b="1" spc="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97991" y="5900928"/>
            <a:ext cx="2268220" cy="570230"/>
            <a:chOff x="697991" y="5900928"/>
            <a:chExt cx="2268220" cy="570230"/>
          </a:xfrm>
        </p:grpSpPr>
        <p:sp>
          <p:nvSpPr>
            <p:cNvPr id="6" name="object 6"/>
            <p:cNvSpPr/>
            <p:nvPr/>
          </p:nvSpPr>
          <p:spPr>
            <a:xfrm>
              <a:off x="697991" y="6208776"/>
              <a:ext cx="2268220" cy="262255"/>
            </a:xfrm>
            <a:custGeom>
              <a:avLst/>
              <a:gdLst/>
              <a:ahLst/>
              <a:cxnLst/>
              <a:rect l="l" t="t" r="r" b="b"/>
              <a:pathLst>
                <a:path w="2268220" h="262254">
                  <a:moveTo>
                    <a:pt x="2267712" y="0"/>
                  </a:moveTo>
                  <a:lnTo>
                    <a:pt x="0" y="0"/>
                  </a:lnTo>
                  <a:lnTo>
                    <a:pt x="0" y="262128"/>
                  </a:lnTo>
                  <a:lnTo>
                    <a:pt x="2267712" y="262128"/>
                  </a:lnTo>
                  <a:lnTo>
                    <a:pt x="2267712" y="0"/>
                  </a:lnTo>
                  <a:close/>
                </a:path>
              </a:pathLst>
            </a:custGeom>
            <a:solidFill>
              <a:srgbClr val="FFF1CC">
                <a:alpha val="5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991" y="5900928"/>
              <a:ext cx="2266315" cy="307975"/>
            </a:xfrm>
            <a:custGeom>
              <a:avLst/>
              <a:gdLst/>
              <a:ahLst/>
              <a:cxnLst/>
              <a:rect l="l" t="t" r="r" b="b"/>
              <a:pathLst>
                <a:path w="2266315" h="307975">
                  <a:moveTo>
                    <a:pt x="2266188" y="0"/>
                  </a:moveTo>
                  <a:lnTo>
                    <a:pt x="0" y="0"/>
                  </a:lnTo>
                  <a:lnTo>
                    <a:pt x="0" y="307848"/>
                  </a:lnTo>
                  <a:lnTo>
                    <a:pt x="2266188" y="307848"/>
                  </a:lnTo>
                  <a:lnTo>
                    <a:pt x="2266188" y="0"/>
                  </a:lnTo>
                  <a:close/>
                </a:path>
              </a:pathLst>
            </a:custGeom>
            <a:solidFill>
              <a:srgbClr val="3844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29611" y="4847844"/>
            <a:ext cx="1440180" cy="262255"/>
          </a:xfrm>
          <a:prstGeom prst="rect">
            <a:avLst/>
          </a:prstGeom>
          <a:solidFill>
            <a:srgbClr val="FFF1CC">
              <a:alpha val="56077"/>
            </a:srgbClr>
          </a:solidFill>
        </p:spPr>
        <p:txBody>
          <a:bodyPr vert="horz" wrap="square" lIns="0" tIns="38735" rIns="0" bIns="0" rtlCol="0">
            <a:spAutoFit/>
          </a:bodyPr>
          <a:lstStyle/>
          <a:p>
            <a:pPr marL="85090" algn="ctr">
              <a:lnSpc>
                <a:spcPct val="100000"/>
              </a:lnSpc>
              <a:spcBef>
                <a:spcPts val="305"/>
              </a:spcBef>
            </a:pPr>
            <a:r>
              <a:rPr sz="1100" dirty="0">
                <a:latin typeface="Calibri"/>
                <a:cs typeface="Calibri"/>
              </a:rPr>
              <a:t>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9611" y="4555235"/>
            <a:ext cx="1440180" cy="277495"/>
          </a:xfrm>
          <a:prstGeom prst="rect">
            <a:avLst/>
          </a:prstGeom>
          <a:solidFill>
            <a:srgbClr val="384453"/>
          </a:solidFill>
        </p:spPr>
        <p:txBody>
          <a:bodyPr vert="horz" wrap="square" lIns="0" tIns="37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Parking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7991" y="4847844"/>
            <a:ext cx="1438910" cy="260985"/>
          </a:xfrm>
          <a:prstGeom prst="rect">
            <a:avLst/>
          </a:prstGeom>
          <a:solidFill>
            <a:srgbClr val="FFF1CC">
              <a:alpha val="56077"/>
            </a:srgbClr>
          </a:solidFill>
        </p:spPr>
        <p:txBody>
          <a:bodyPr vert="horz" wrap="square" lIns="0" tIns="37465" rIns="0" bIns="0" rtlCol="0">
            <a:spAutoFit/>
          </a:bodyPr>
          <a:lstStyle/>
          <a:p>
            <a:pPr marL="83820" algn="ctr">
              <a:lnSpc>
                <a:spcPct val="100000"/>
              </a:lnSpc>
              <a:spcBef>
                <a:spcPts val="295"/>
              </a:spcBef>
            </a:pPr>
            <a:r>
              <a:rPr sz="1100" dirty="0">
                <a:latin typeface="Calibri"/>
                <a:cs typeface="Calibri"/>
              </a:rPr>
              <a:t>100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991" y="4555235"/>
            <a:ext cx="1438910" cy="277495"/>
          </a:xfrm>
          <a:prstGeom prst="rect">
            <a:avLst/>
          </a:prstGeom>
          <a:solidFill>
            <a:srgbClr val="384453"/>
          </a:solidFill>
        </p:spPr>
        <p:txBody>
          <a:bodyPr vert="horz" wrap="square" lIns="0" tIns="37465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295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Street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Lights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91328" y="4847844"/>
            <a:ext cx="1577340" cy="262255"/>
          </a:xfrm>
          <a:custGeom>
            <a:avLst/>
            <a:gdLst/>
            <a:ahLst/>
            <a:cxnLst/>
            <a:rect l="l" t="t" r="r" b="b"/>
            <a:pathLst>
              <a:path w="1577340" h="262254">
                <a:moveTo>
                  <a:pt x="1577340" y="0"/>
                </a:moveTo>
                <a:lnTo>
                  <a:pt x="0" y="0"/>
                </a:lnTo>
                <a:lnTo>
                  <a:pt x="0" y="262127"/>
                </a:lnTo>
                <a:lnTo>
                  <a:pt x="1577340" y="262127"/>
                </a:lnTo>
                <a:lnTo>
                  <a:pt x="1577340" y="0"/>
                </a:lnTo>
                <a:close/>
              </a:path>
            </a:pathLst>
          </a:custGeom>
          <a:solidFill>
            <a:srgbClr val="FFF1CC">
              <a:alpha val="5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25134" y="4873497"/>
            <a:ext cx="1962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Calibri"/>
                <a:cs typeface="Calibri"/>
              </a:rPr>
              <a:t>NA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91328" y="4538471"/>
            <a:ext cx="1577340" cy="277495"/>
          </a:xfrm>
          <a:custGeom>
            <a:avLst/>
            <a:gdLst/>
            <a:ahLst/>
            <a:cxnLst/>
            <a:rect l="l" t="t" r="r" b="b"/>
            <a:pathLst>
              <a:path w="1577340" h="277495">
                <a:moveTo>
                  <a:pt x="1577340" y="0"/>
                </a:moveTo>
                <a:lnTo>
                  <a:pt x="0" y="0"/>
                </a:lnTo>
                <a:lnTo>
                  <a:pt x="0" y="277367"/>
                </a:lnTo>
                <a:lnTo>
                  <a:pt x="1577340" y="277367"/>
                </a:lnTo>
                <a:lnTo>
                  <a:pt x="1577340" y="0"/>
                </a:lnTo>
                <a:close/>
              </a:path>
            </a:pathLst>
          </a:custGeom>
          <a:solidFill>
            <a:srgbClr val="3844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58409" y="4563871"/>
            <a:ext cx="10458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Stubble</a:t>
            </a: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Burning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59708" y="4847844"/>
            <a:ext cx="1440180" cy="262255"/>
          </a:xfrm>
          <a:prstGeom prst="rect">
            <a:avLst/>
          </a:prstGeom>
          <a:solidFill>
            <a:srgbClr val="FFF1CC">
              <a:alpha val="56077"/>
            </a:srgbClr>
          </a:solidFill>
        </p:spPr>
        <p:txBody>
          <a:bodyPr vert="horz" wrap="square" lIns="0" tIns="38735" rIns="0" bIns="0" rtlCol="0">
            <a:spAutoFit/>
          </a:bodyPr>
          <a:lstStyle/>
          <a:p>
            <a:pPr marL="86995" algn="ctr">
              <a:lnSpc>
                <a:spcPct val="100000"/>
              </a:lnSpc>
              <a:spcBef>
                <a:spcPts val="305"/>
              </a:spcBef>
            </a:pPr>
            <a:r>
              <a:rPr sz="1100" dirty="0">
                <a:latin typeface="Calibri"/>
                <a:cs typeface="Calibri"/>
              </a:rPr>
              <a:t>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59708" y="4538471"/>
            <a:ext cx="1440180" cy="277495"/>
          </a:xfrm>
          <a:prstGeom prst="rect">
            <a:avLst/>
          </a:prstGeom>
          <a:solidFill>
            <a:srgbClr val="384453"/>
          </a:solidFill>
        </p:spPr>
        <p:txBody>
          <a:bodyPr vert="horz" wrap="square" lIns="0" tIns="381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00"/>
              </a:spcBef>
            </a:pP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97991" y="3172967"/>
          <a:ext cx="8968740" cy="1264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9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465">
                <a:tc>
                  <a:txBody>
                    <a:bodyPr/>
                    <a:lstStyle/>
                    <a:p>
                      <a:pPr marL="7448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Water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Bodies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8382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Major Construction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Cycle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644"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Name-</a:t>
                      </a:r>
                      <a:r>
                        <a:rPr sz="11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Block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295" algn="l"/>
                          <a:tab pos="328930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meter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99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.7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9 mt.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295" algn="l"/>
                          <a:tab pos="328930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Area: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701.82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sq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mt.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930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Clean: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Verified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romanLcPeriod"/>
                        <a:tabLst>
                          <a:tab pos="328930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swimmable: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Verified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R w="8382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BE1D0"/>
                    </a:solidFill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8382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BE1D0"/>
                    </a:solidFill>
                  </a:tcPr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23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Nos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BE1D0"/>
                    </a:solidFill>
                  </a:tcPr>
                </a:tc>
                <a:tc>
                  <a:txBody>
                    <a:bodyPr/>
                    <a:lstStyle/>
                    <a:p>
                      <a:pPr marL="473075" marR="440055" indent="-343535">
                        <a:lnSpc>
                          <a:spcPts val="1300"/>
                        </a:lnSpc>
                        <a:spcBef>
                          <a:spcPts val="475"/>
                        </a:spcBef>
                        <a:buAutoNum type="romanLcPeriod"/>
                        <a:tabLst>
                          <a:tab pos="473075" algn="l"/>
                          <a:tab pos="473709" algn="l"/>
                        </a:tabLst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Cycle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11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length:</a:t>
                      </a:r>
                      <a:r>
                        <a:rPr sz="11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1800.17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mtr.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(Approx)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73709" indent="-343535">
                        <a:lnSpc>
                          <a:spcPts val="1220"/>
                        </a:lnSpc>
                        <a:buAutoNum type="romanLcPeriod"/>
                        <a:tabLst>
                          <a:tab pos="473075" algn="l"/>
                          <a:tab pos="473709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Street no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cycle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track: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64,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41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73709" indent="-343535">
                        <a:lnSpc>
                          <a:spcPts val="1290"/>
                        </a:lnSpc>
                        <a:buAutoNum type="romanLcPeriod"/>
                        <a:tabLst>
                          <a:tab pos="473075" algn="l"/>
                          <a:tab pos="473709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100" b="1" spc="5" dirty="0">
                          <a:latin typeface="Calibri"/>
                          <a:cs typeface="Calibri"/>
                        </a:rPr>
                        <a:t>j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1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em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73709" indent="-343535">
                        <a:lnSpc>
                          <a:spcPts val="1310"/>
                        </a:lnSpc>
                        <a:buAutoNum type="romanLcPeriod"/>
                        <a:tabLst>
                          <a:tab pos="473075" algn="l"/>
                          <a:tab pos="473709" algn="l"/>
                        </a:tabLst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Cycle</a:t>
                      </a:r>
                      <a:r>
                        <a:rPr sz="11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route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No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BE1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4007358" y="98298"/>
            <a:ext cx="18262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BLOCK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SPECIFIC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INSIGHT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97991" y="429768"/>
          <a:ext cx="8968740" cy="260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989">
                <a:tc>
                  <a:txBody>
                    <a:bodyPr/>
                    <a:lstStyle/>
                    <a:p>
                      <a:pPr marR="266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Footpath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Greenery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002">
                <a:tc>
                  <a:txBody>
                    <a:bodyPr/>
                    <a:lstStyle/>
                    <a:p>
                      <a:pPr marL="328295" indent="-238125">
                        <a:lnSpc>
                          <a:spcPct val="100000"/>
                        </a:lnSpc>
                        <a:spcBef>
                          <a:spcPts val="475"/>
                        </a:spcBef>
                        <a:buAutoNum type="romanLcPeriod"/>
                        <a:tabLst>
                          <a:tab pos="328295" algn="l"/>
                          <a:tab pos="328930" algn="l"/>
                        </a:tabLst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1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roads:</a:t>
                      </a:r>
                      <a:r>
                        <a:rPr sz="11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23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295" algn="l"/>
                          <a:tab pos="328930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Road’s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length: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3913.31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mt.(Approx.)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930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Roads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sharing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adjacent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blocks: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05790" lvl="1" indent="-198755">
                        <a:lnSpc>
                          <a:spcPct val="100000"/>
                        </a:lnSpc>
                        <a:buAutoNum type="alphaLcPeriod"/>
                        <a:tabLst>
                          <a:tab pos="606425" algn="l"/>
                        </a:tabLst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Adjacent</a:t>
                      </a:r>
                      <a:r>
                        <a:rPr sz="11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block-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AF,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AD,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AG,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AA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05790" lvl="1" indent="-198755">
                        <a:lnSpc>
                          <a:spcPct val="100000"/>
                        </a:lnSpc>
                        <a:buAutoNum type="alphaLcPeriod"/>
                        <a:tabLst>
                          <a:tab pos="606425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Street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no.</a:t>
                      </a:r>
                      <a:r>
                        <a:rPr sz="11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roads-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32,39,41,51,64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05790" marR="441325" lvl="1" indent="-198755">
                        <a:lnSpc>
                          <a:spcPct val="100000"/>
                        </a:lnSpc>
                        <a:buAutoNum type="alphaLcPeriod"/>
                        <a:tabLst>
                          <a:tab pos="606425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Roads segment length-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1633.50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mt.(Approx.)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05790" marR="409575" lvl="1" indent="-198755">
                        <a:lnSpc>
                          <a:spcPct val="100000"/>
                        </a:lnSpc>
                        <a:buAutoNum type="alphaLcPeriod"/>
                        <a:tabLst>
                          <a:tab pos="606425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Street no. sharing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adjacent </a:t>
                      </a:r>
                      <a:r>
                        <a:rPr sz="1100" b="1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block: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233805" lvl="2" indent="-229235">
                        <a:lnSpc>
                          <a:spcPts val="1285"/>
                        </a:lnSpc>
                        <a:buAutoNum type="arabicPeriod"/>
                        <a:tabLst>
                          <a:tab pos="1234440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51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AA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Block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233805" lvl="2" indent="-229235">
                        <a:lnSpc>
                          <a:spcPts val="1300"/>
                        </a:lnSpc>
                        <a:buAutoNum type="arabicPeriod"/>
                        <a:tabLst>
                          <a:tab pos="1234440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64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AD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AG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Block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233805" lvl="2" indent="-229235">
                        <a:lnSpc>
                          <a:spcPts val="1315"/>
                        </a:lnSpc>
                        <a:buAutoNum type="arabicPeriod"/>
                        <a:tabLst>
                          <a:tab pos="1234440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39,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41 &amp;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42 with</a:t>
                      </a:r>
                      <a:r>
                        <a:rPr sz="11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AF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Block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romanLcPeriod"/>
                        <a:tabLst>
                          <a:tab pos="328930" algn="l"/>
                        </a:tabLst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Major</a:t>
                      </a:r>
                      <a:r>
                        <a:rPr sz="11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road</a:t>
                      </a:r>
                      <a:r>
                        <a:rPr sz="11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problem: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362585" marR="311785" indent="-238125">
                        <a:lnSpc>
                          <a:spcPct val="100000"/>
                        </a:lnSpc>
                        <a:spcBef>
                          <a:spcPts val="440"/>
                        </a:spcBef>
                        <a:buAutoNum type="romanLcPeriod"/>
                        <a:tabLst>
                          <a:tab pos="362585" algn="l"/>
                          <a:tab pos="363220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Street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footpath: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32, 47,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51,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64, 41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63220" indent="-238125">
                        <a:lnSpc>
                          <a:spcPct val="100000"/>
                        </a:lnSpc>
                        <a:spcBef>
                          <a:spcPts val="190"/>
                        </a:spcBef>
                        <a:buAutoNum type="romanLcPeriod"/>
                        <a:tabLst>
                          <a:tab pos="362585" algn="l"/>
                          <a:tab pos="363220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Street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partial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footpath: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625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39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62585" marR="296545" indent="-238125" algn="just">
                        <a:lnSpc>
                          <a:spcPct val="100000"/>
                        </a:lnSpc>
                        <a:spcBef>
                          <a:spcPts val="200"/>
                        </a:spcBef>
                        <a:buAutoNum type="romanLcPeriod" startAt="3"/>
                        <a:tabLst>
                          <a:tab pos="363220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Street without footpath: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34,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36, 38, 40, 42, 43, 44, 46, 48,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49,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50,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52,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54,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56,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58,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60,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Area:</a:t>
                      </a:r>
                      <a:r>
                        <a:rPr sz="11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14430.05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sq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mt.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59410" indent="-238760">
                        <a:lnSpc>
                          <a:spcPct val="100000"/>
                        </a:lnSpc>
                        <a:buAutoNum type="romanLcPeriod"/>
                        <a:tabLst>
                          <a:tab pos="359410" algn="l"/>
                          <a:tab pos="360045" algn="l"/>
                        </a:tabLst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No.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tree:</a:t>
                      </a:r>
                      <a:r>
                        <a:rPr sz="11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197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59410" marR="306705" indent="-238125">
                        <a:lnSpc>
                          <a:spcPct val="100000"/>
                        </a:lnSpc>
                        <a:buAutoNum type="romanLcPeriod"/>
                        <a:tabLst>
                          <a:tab pos="359410" algn="l"/>
                          <a:tab pos="360045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Green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verges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Public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Park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865505" lvl="1" indent="-287020">
                        <a:lnSpc>
                          <a:spcPts val="1140"/>
                        </a:lnSpc>
                        <a:buAutoNum type="alphaLcPeriod"/>
                        <a:tabLst>
                          <a:tab pos="864869" algn="l"/>
                          <a:tab pos="865505" algn="l"/>
                        </a:tabLst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AC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Block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Park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865505" lvl="1" indent="-287020">
                        <a:lnSpc>
                          <a:spcPts val="1200"/>
                        </a:lnSpc>
                        <a:buAutoNum type="alphaLcPeriod"/>
                        <a:tabLst>
                          <a:tab pos="864869" algn="l"/>
                          <a:tab pos="865505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NKDA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Park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865505" lvl="1" indent="-287020">
                        <a:lnSpc>
                          <a:spcPts val="1200"/>
                        </a:lnSpc>
                        <a:buAutoNum type="alphaLcPeriod"/>
                        <a:tabLst>
                          <a:tab pos="864869" algn="l"/>
                          <a:tab pos="865505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NKDA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Sensory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53340" algn="ctr">
                        <a:lnSpc>
                          <a:spcPts val="126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Park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length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(Approx.)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i.  </a:t>
                      </a:r>
                      <a:r>
                        <a:rPr sz="1100" b="1" spc="1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“C”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Canal: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338.86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97991" y="5204459"/>
          <a:ext cx="6170930" cy="1268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2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989"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Police</a:t>
                      </a: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Stations/Fire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Water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Drainage Network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97"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b="1" spc="-5" dirty="0">
                          <a:latin typeface="Calibri"/>
                          <a:cs typeface="Calibri"/>
                        </a:rPr>
                        <a:t>No.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Water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tank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 marL="120014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384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2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6715" indent="-172720">
                        <a:lnSpc>
                          <a:spcPts val="1215"/>
                        </a:lnSpc>
                        <a:buFont typeface="Arial MT"/>
                        <a:buChar char="•"/>
                        <a:tabLst>
                          <a:tab pos="387350" algn="l"/>
                        </a:tabLst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Water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Tank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384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723">
                <a:tc>
                  <a:txBody>
                    <a:bodyPr/>
                    <a:lstStyle/>
                    <a:p>
                      <a:pPr marL="31750" algn="ctr">
                        <a:lnSpc>
                          <a:spcPts val="123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Rooftop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Water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logging: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 marL="70485" algn="ctr">
                        <a:lnSpc>
                          <a:spcPts val="1225"/>
                        </a:lnSpc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Gym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384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158"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R w="762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Water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Harvesting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pit:</a:t>
                      </a:r>
                      <a:r>
                        <a:rPr sz="11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 marL="12128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3844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231" y="1046988"/>
            <a:ext cx="8726424" cy="54010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1995" y="990600"/>
            <a:ext cx="794003" cy="54528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756" y="0"/>
            <a:ext cx="9572244" cy="10073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14399" y="107391"/>
            <a:ext cx="245681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585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35"/>
              </a:lnSpc>
            </a:pP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70" dirty="0">
                <a:solidFill>
                  <a:srgbClr val="FFFFFF"/>
                </a:solidFill>
                <a:latin typeface="Arial"/>
                <a:cs typeface="Arial"/>
              </a:rPr>
              <a:t>OC</a:t>
            </a:r>
            <a:r>
              <a:rPr sz="2400" b="1" spc="-254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37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sz="2400" b="1" spc="-27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98104" y="150495"/>
            <a:ext cx="1592580" cy="503555"/>
            <a:chOff x="8198104" y="150495"/>
            <a:chExt cx="1592580" cy="50355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00032" y="306324"/>
              <a:ext cx="390144" cy="3474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98104" y="150495"/>
              <a:ext cx="990853" cy="8458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772656" y="2587751"/>
            <a:ext cx="810895" cy="21526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ct</a:t>
            </a:r>
            <a:r>
              <a:rPr sz="800" spc="-10" dirty="0">
                <a:latin typeface="Calibri"/>
                <a:cs typeface="Calibri"/>
              </a:rPr>
              <a:t>i</a:t>
            </a:r>
            <a:r>
              <a:rPr sz="800" spc="-5" dirty="0">
                <a:latin typeface="Calibri"/>
                <a:cs typeface="Calibri"/>
              </a:rPr>
              <a:t>on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rea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-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II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8059" y="148285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800" spc="-5" dirty="0">
                <a:latin typeface="Calibri"/>
                <a:cs typeface="Calibri"/>
              </a:rPr>
              <a:t>Rajarhat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4087" y="3442715"/>
            <a:ext cx="55499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sz="800" spc="-5" dirty="0">
                <a:latin typeface="Calibri"/>
                <a:cs typeface="Calibri"/>
              </a:rPr>
              <a:t>Saltlake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82467" y="5957315"/>
            <a:ext cx="546100" cy="45593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7155" marR="88900" indent="89535">
              <a:lnSpc>
                <a:spcPts val="950"/>
              </a:lnSpc>
              <a:spcBef>
                <a:spcPts val="340"/>
              </a:spcBef>
            </a:pPr>
            <a:r>
              <a:rPr sz="800" spc="-10" dirty="0">
                <a:latin typeface="Calibri"/>
                <a:cs typeface="Calibri"/>
              </a:rPr>
              <a:t>East </a:t>
            </a:r>
            <a:r>
              <a:rPr sz="800" spc="-5" dirty="0">
                <a:latin typeface="Calibri"/>
                <a:cs typeface="Calibri"/>
              </a:rPr>
              <a:t> Calcutta </a:t>
            </a:r>
            <a:r>
              <a:rPr sz="800" spc="-17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Wetland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6595" y="5743955"/>
            <a:ext cx="84455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ct</a:t>
            </a:r>
            <a:r>
              <a:rPr sz="800" spc="-10" dirty="0">
                <a:latin typeface="Calibri"/>
                <a:cs typeface="Calibri"/>
              </a:rPr>
              <a:t>i</a:t>
            </a:r>
            <a:r>
              <a:rPr sz="800" spc="-5" dirty="0">
                <a:latin typeface="Calibri"/>
                <a:cs typeface="Calibri"/>
              </a:rPr>
              <a:t>on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rea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-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III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0936" y="213817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800" spc="-5" dirty="0">
                <a:latin typeface="Calibri"/>
                <a:cs typeface="Calibri"/>
              </a:rPr>
              <a:t>Rajarhat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0708" y="0"/>
            <a:ext cx="9575292" cy="6448044"/>
            <a:chOff x="330708" y="0"/>
            <a:chExt cx="9575292" cy="644804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64434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0031" y="306324"/>
              <a:ext cx="390144" cy="3474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9051" y="6085332"/>
              <a:ext cx="620268" cy="2560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98103" y="150495"/>
              <a:ext cx="990853" cy="8458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30020" y="107391"/>
            <a:ext cx="322961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4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’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BOUN</a:t>
            </a:r>
            <a:r>
              <a:rPr sz="2400" b="1" spc="-26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400" b="1" spc="-2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spc="-3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02651" y="756284"/>
            <a:ext cx="1026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DoC: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22.06.22)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976115" y="2310383"/>
            <a:ext cx="579120" cy="213360"/>
          </a:xfrm>
          <a:custGeom>
            <a:avLst/>
            <a:gdLst/>
            <a:ahLst/>
            <a:cxnLst/>
            <a:rect l="l" t="t" r="r" b="b"/>
            <a:pathLst>
              <a:path w="579120" h="213360">
                <a:moveTo>
                  <a:pt x="579120" y="0"/>
                </a:moveTo>
                <a:lnTo>
                  <a:pt x="0" y="0"/>
                </a:lnTo>
                <a:lnTo>
                  <a:pt x="0" y="213360"/>
                </a:lnTo>
                <a:lnTo>
                  <a:pt x="579120" y="213360"/>
                </a:lnTo>
                <a:lnTo>
                  <a:pt x="5791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2287" y="1209294"/>
            <a:ext cx="8494395" cy="275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53490" algn="r">
              <a:lnSpc>
                <a:spcPts val="755"/>
              </a:lnSpc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Calibri"/>
              <a:cs typeface="Calibri"/>
            </a:endParaRPr>
          </a:p>
          <a:p>
            <a:pPr marL="478790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 marR="948690" algn="ctr">
              <a:lnSpc>
                <a:spcPct val="100000"/>
              </a:lnSpc>
              <a:spcBef>
                <a:spcPts val="530"/>
              </a:spcBef>
            </a:pPr>
            <a:r>
              <a:rPr sz="800" spc="-5" dirty="0">
                <a:latin typeface="Calibri"/>
                <a:cs typeface="Calibri"/>
              </a:rPr>
              <a:t>Rajarhat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B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50">
              <a:latin typeface="Calibri"/>
              <a:cs typeface="Calibri"/>
            </a:endParaRPr>
          </a:p>
          <a:p>
            <a:pPr>
              <a:lnSpc>
                <a:spcPts val="30"/>
              </a:lnSpc>
              <a:spcBef>
                <a:spcPts val="5"/>
              </a:spcBef>
              <a:tabLst>
                <a:tab pos="466725" algn="l"/>
              </a:tabLst>
            </a:pPr>
            <a:r>
              <a:rPr sz="800" spc="-5" dirty="0">
                <a:latin typeface="Calibri"/>
                <a:cs typeface="Calibri"/>
              </a:rPr>
              <a:t>a	</a:t>
            </a:r>
            <a:r>
              <a:rPr sz="1200" spc="-15" baseline="3472" dirty="0">
                <a:latin typeface="Calibri"/>
                <a:cs typeface="Calibri"/>
              </a:rPr>
              <a:t>WTP</a:t>
            </a:r>
            <a:endParaRPr sz="1200" baseline="3472">
              <a:latin typeface="Calibri"/>
              <a:cs typeface="Calibri"/>
            </a:endParaRPr>
          </a:p>
          <a:p>
            <a:pPr>
              <a:lnSpc>
                <a:spcPts val="560"/>
              </a:lnSpc>
            </a:pPr>
            <a:r>
              <a:rPr sz="800" spc="-5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70"/>
              </a:lnSpc>
              <a:spcBef>
                <a:spcPts val="105"/>
              </a:spcBef>
            </a:pPr>
            <a:r>
              <a:rPr sz="800" spc="-5" dirty="0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  <a:p>
            <a:pPr marR="8385809">
              <a:lnSpc>
                <a:spcPct val="19900"/>
              </a:lnSpc>
              <a:spcBef>
                <a:spcPts val="480"/>
              </a:spcBef>
            </a:pPr>
            <a:r>
              <a:rPr sz="800" spc="-5" dirty="0">
                <a:latin typeface="Calibri"/>
                <a:cs typeface="Calibri"/>
              </a:rPr>
              <a:t>a </a:t>
            </a:r>
            <a:r>
              <a:rPr sz="800" spc="6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55"/>
              </a:lnSpc>
            </a:pPr>
            <a:r>
              <a:rPr sz="800" spc="-5" dirty="0">
                <a:latin typeface="Calibri"/>
                <a:cs typeface="Calibri"/>
              </a:rPr>
              <a:t>Ra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7344" y="3549396"/>
            <a:ext cx="426720" cy="213360"/>
          </a:xfrm>
          <a:custGeom>
            <a:avLst/>
            <a:gdLst/>
            <a:ahLst/>
            <a:cxnLst/>
            <a:rect l="l" t="t" r="r" b="b"/>
            <a:pathLst>
              <a:path w="426719" h="213360">
                <a:moveTo>
                  <a:pt x="426719" y="0"/>
                </a:moveTo>
                <a:lnTo>
                  <a:pt x="0" y="0"/>
                </a:lnTo>
                <a:lnTo>
                  <a:pt x="0" y="213359"/>
                </a:lnTo>
                <a:lnTo>
                  <a:pt x="426719" y="213359"/>
                </a:lnTo>
                <a:lnTo>
                  <a:pt x="42671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22207" y="3109341"/>
            <a:ext cx="534924" cy="58623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08431" y="3511296"/>
            <a:ext cx="215265" cy="541020"/>
          </a:xfrm>
          <a:custGeom>
            <a:avLst/>
            <a:gdLst/>
            <a:ahLst/>
            <a:cxnLst/>
            <a:rect l="l" t="t" r="r" b="b"/>
            <a:pathLst>
              <a:path w="215265" h="541020">
                <a:moveTo>
                  <a:pt x="214884" y="0"/>
                </a:moveTo>
                <a:lnTo>
                  <a:pt x="0" y="0"/>
                </a:lnTo>
                <a:lnTo>
                  <a:pt x="0" y="541019"/>
                </a:lnTo>
                <a:lnTo>
                  <a:pt x="214884" y="541019"/>
                </a:lnTo>
                <a:lnTo>
                  <a:pt x="2148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marL="76835" algn="ctr">
              <a:lnSpc>
                <a:spcPts val="2735"/>
              </a:lnSpc>
            </a:pP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PL</a:t>
            </a:r>
            <a:r>
              <a:rPr sz="2400" b="1" spc="-3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29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400" b="1" spc="-19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-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2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-2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44611" y="5410200"/>
            <a:ext cx="966216" cy="58674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99627" y="3218942"/>
            <a:ext cx="242824" cy="58610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7200" y="3619500"/>
            <a:ext cx="215265" cy="539750"/>
          </a:xfrm>
          <a:custGeom>
            <a:avLst/>
            <a:gdLst/>
            <a:ahLst/>
            <a:cxnLst/>
            <a:rect l="l" t="t" r="r" b="b"/>
            <a:pathLst>
              <a:path w="215265" h="539750">
                <a:moveTo>
                  <a:pt x="214884" y="0"/>
                </a:moveTo>
                <a:lnTo>
                  <a:pt x="0" y="0"/>
                </a:lnTo>
                <a:lnTo>
                  <a:pt x="0" y="539495"/>
                </a:lnTo>
                <a:lnTo>
                  <a:pt x="214884" y="539495"/>
                </a:lnTo>
                <a:lnTo>
                  <a:pt x="2148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1108" y="107391"/>
            <a:ext cx="410591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8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LOCK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marL="1905" algn="ctr">
              <a:lnSpc>
                <a:spcPts val="2735"/>
              </a:lnSpc>
            </a:pP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PL</a:t>
            </a:r>
            <a:r>
              <a:rPr sz="2400" b="1" spc="-3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29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400" b="1" spc="-19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-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2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-2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65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425440" y="1075944"/>
            <a:ext cx="3599815" cy="3168650"/>
            <a:chOff x="5425440" y="1075944"/>
            <a:chExt cx="3599815" cy="3168650"/>
          </a:xfrm>
        </p:grpSpPr>
        <p:sp>
          <p:nvSpPr>
            <p:cNvPr id="8" name="object 8"/>
            <p:cNvSpPr/>
            <p:nvPr/>
          </p:nvSpPr>
          <p:spPr>
            <a:xfrm>
              <a:off x="5425440" y="1075944"/>
              <a:ext cx="3599815" cy="3168650"/>
            </a:xfrm>
            <a:custGeom>
              <a:avLst/>
              <a:gdLst/>
              <a:ahLst/>
              <a:cxnLst/>
              <a:rect l="l" t="t" r="r" b="b"/>
              <a:pathLst>
                <a:path w="3599815" h="3168650">
                  <a:moveTo>
                    <a:pt x="3599688" y="0"/>
                  </a:moveTo>
                  <a:lnTo>
                    <a:pt x="0" y="0"/>
                  </a:lnTo>
                  <a:lnTo>
                    <a:pt x="0" y="3168395"/>
                  </a:lnTo>
                  <a:lnTo>
                    <a:pt x="3599688" y="3168395"/>
                  </a:lnTo>
                  <a:lnTo>
                    <a:pt x="3599688" y="0"/>
                  </a:lnTo>
                  <a:close/>
                </a:path>
              </a:pathLst>
            </a:custGeom>
            <a:solidFill>
              <a:srgbClr val="DEEBF7">
                <a:alpha val="5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28816" y="1662684"/>
              <a:ext cx="1352677" cy="15217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9260" y="1652016"/>
              <a:ext cx="2550414" cy="25488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92468" y="1928241"/>
              <a:ext cx="840105" cy="1006475"/>
            </a:xfrm>
            <a:custGeom>
              <a:avLst/>
              <a:gdLst/>
              <a:ahLst/>
              <a:cxnLst/>
              <a:rect l="l" t="t" r="r" b="b"/>
              <a:pathLst>
                <a:path w="840104" h="1006475">
                  <a:moveTo>
                    <a:pt x="0" y="0"/>
                  </a:moveTo>
                  <a:lnTo>
                    <a:pt x="0" y="1006348"/>
                  </a:lnTo>
                  <a:lnTo>
                    <a:pt x="839977" y="451993"/>
                  </a:lnTo>
                  <a:lnTo>
                    <a:pt x="811076" y="410514"/>
                  </a:lnTo>
                  <a:lnTo>
                    <a:pt x="780316" y="370764"/>
                  </a:lnTo>
                  <a:lnTo>
                    <a:pt x="747779" y="332786"/>
                  </a:lnTo>
                  <a:lnTo>
                    <a:pt x="713544" y="296623"/>
                  </a:lnTo>
                  <a:lnTo>
                    <a:pt x="677691" y="262318"/>
                  </a:lnTo>
                  <a:lnTo>
                    <a:pt x="640300" y="229914"/>
                  </a:lnTo>
                  <a:lnTo>
                    <a:pt x="601450" y="199455"/>
                  </a:lnTo>
                  <a:lnTo>
                    <a:pt x="561222" y="170983"/>
                  </a:lnTo>
                  <a:lnTo>
                    <a:pt x="519694" y="144542"/>
                  </a:lnTo>
                  <a:lnTo>
                    <a:pt x="476948" y="120173"/>
                  </a:lnTo>
                  <a:lnTo>
                    <a:pt x="433062" y="97921"/>
                  </a:lnTo>
                  <a:lnTo>
                    <a:pt x="388118" y="77829"/>
                  </a:lnTo>
                  <a:lnTo>
                    <a:pt x="342193" y="59939"/>
                  </a:lnTo>
                  <a:lnTo>
                    <a:pt x="295369" y="44295"/>
                  </a:lnTo>
                  <a:lnTo>
                    <a:pt x="247725" y="30940"/>
                  </a:lnTo>
                  <a:lnTo>
                    <a:pt x="199341" y="19916"/>
                  </a:lnTo>
                  <a:lnTo>
                    <a:pt x="150296" y="11267"/>
                  </a:lnTo>
                  <a:lnTo>
                    <a:pt x="100671" y="5036"/>
                  </a:lnTo>
                  <a:lnTo>
                    <a:pt x="50546" y="1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6285" y="1928241"/>
              <a:ext cx="2012950" cy="2012950"/>
            </a:xfrm>
            <a:custGeom>
              <a:avLst/>
              <a:gdLst/>
              <a:ahLst/>
              <a:cxnLst/>
              <a:rect l="l" t="t" r="r" b="b"/>
              <a:pathLst>
                <a:path w="2012950" h="2012950">
                  <a:moveTo>
                    <a:pt x="1006182" y="0"/>
                  </a:moveTo>
                  <a:lnTo>
                    <a:pt x="957012" y="1199"/>
                  </a:lnTo>
                  <a:lnTo>
                    <a:pt x="908110" y="4783"/>
                  </a:lnTo>
                  <a:lnTo>
                    <a:pt x="859557" y="10725"/>
                  </a:lnTo>
                  <a:lnTo>
                    <a:pt x="811435" y="19002"/>
                  </a:lnTo>
                  <a:lnTo>
                    <a:pt x="763826" y="29591"/>
                  </a:lnTo>
                  <a:lnTo>
                    <a:pt x="716812" y="42465"/>
                  </a:lnTo>
                  <a:lnTo>
                    <a:pt x="670476" y="57602"/>
                  </a:lnTo>
                  <a:lnTo>
                    <a:pt x="624900" y="74977"/>
                  </a:lnTo>
                  <a:lnTo>
                    <a:pt x="580164" y="94565"/>
                  </a:lnTo>
                  <a:lnTo>
                    <a:pt x="536353" y="116343"/>
                  </a:lnTo>
                  <a:lnTo>
                    <a:pt x="493546" y="140286"/>
                  </a:lnTo>
                  <a:lnTo>
                    <a:pt x="451827" y="166370"/>
                  </a:lnTo>
                  <a:lnTo>
                    <a:pt x="411777" y="194200"/>
                  </a:lnTo>
                  <a:lnTo>
                    <a:pt x="373486" y="223608"/>
                  </a:lnTo>
                  <a:lnTo>
                    <a:pt x="336969" y="254521"/>
                  </a:lnTo>
                  <a:lnTo>
                    <a:pt x="302239" y="286865"/>
                  </a:lnTo>
                  <a:lnTo>
                    <a:pt x="269314" y="320567"/>
                  </a:lnTo>
                  <a:lnTo>
                    <a:pt x="238206" y="355555"/>
                  </a:lnTo>
                  <a:lnTo>
                    <a:pt x="208932" y="391756"/>
                  </a:lnTo>
                  <a:lnTo>
                    <a:pt x="181507" y="429096"/>
                  </a:lnTo>
                  <a:lnTo>
                    <a:pt x="155945" y="467503"/>
                  </a:lnTo>
                  <a:lnTo>
                    <a:pt x="132261" y="506903"/>
                  </a:lnTo>
                  <a:lnTo>
                    <a:pt x="110471" y="547223"/>
                  </a:lnTo>
                  <a:lnTo>
                    <a:pt x="90589" y="588391"/>
                  </a:lnTo>
                  <a:lnTo>
                    <a:pt x="72630" y="630333"/>
                  </a:lnTo>
                  <a:lnTo>
                    <a:pt x="56610" y="672977"/>
                  </a:lnTo>
                  <a:lnTo>
                    <a:pt x="42543" y="716249"/>
                  </a:lnTo>
                  <a:lnTo>
                    <a:pt x="30444" y="760076"/>
                  </a:lnTo>
                  <a:lnTo>
                    <a:pt x="20329" y="804386"/>
                  </a:lnTo>
                  <a:lnTo>
                    <a:pt x="12211" y="849105"/>
                  </a:lnTo>
                  <a:lnTo>
                    <a:pt x="6108" y="894160"/>
                  </a:lnTo>
                  <a:lnTo>
                    <a:pt x="2032" y="939479"/>
                  </a:lnTo>
                  <a:lnTo>
                    <a:pt x="0" y="984988"/>
                  </a:lnTo>
                  <a:lnTo>
                    <a:pt x="25" y="1030614"/>
                  </a:lnTo>
                  <a:lnTo>
                    <a:pt x="2124" y="1076285"/>
                  </a:lnTo>
                  <a:lnTo>
                    <a:pt x="6312" y="1121927"/>
                  </a:lnTo>
                  <a:lnTo>
                    <a:pt x="12602" y="1167467"/>
                  </a:lnTo>
                  <a:lnTo>
                    <a:pt x="21010" y="1212832"/>
                  </a:lnTo>
                  <a:lnTo>
                    <a:pt x="31552" y="1257950"/>
                  </a:lnTo>
                  <a:lnTo>
                    <a:pt x="44242" y="1302747"/>
                  </a:lnTo>
                  <a:lnTo>
                    <a:pt x="59095" y="1347150"/>
                  </a:lnTo>
                  <a:lnTo>
                    <a:pt x="76126" y="1391086"/>
                  </a:lnTo>
                  <a:lnTo>
                    <a:pt x="95350" y="1434482"/>
                  </a:lnTo>
                  <a:lnTo>
                    <a:pt x="116782" y="1477266"/>
                  </a:lnTo>
                  <a:lnTo>
                    <a:pt x="140438" y="1519364"/>
                  </a:lnTo>
                  <a:lnTo>
                    <a:pt x="166331" y="1560703"/>
                  </a:lnTo>
                  <a:lnTo>
                    <a:pt x="194151" y="1600763"/>
                  </a:lnTo>
                  <a:lnTo>
                    <a:pt x="223550" y="1639063"/>
                  </a:lnTo>
                  <a:lnTo>
                    <a:pt x="254454" y="1675589"/>
                  </a:lnTo>
                  <a:lnTo>
                    <a:pt x="286791" y="1710325"/>
                  </a:lnTo>
                  <a:lnTo>
                    <a:pt x="320488" y="1743257"/>
                  </a:lnTo>
                  <a:lnTo>
                    <a:pt x="355471" y="1774370"/>
                  </a:lnTo>
                  <a:lnTo>
                    <a:pt x="391667" y="1803648"/>
                  </a:lnTo>
                  <a:lnTo>
                    <a:pt x="429003" y="1831077"/>
                  </a:lnTo>
                  <a:lnTo>
                    <a:pt x="467407" y="1856642"/>
                  </a:lnTo>
                  <a:lnTo>
                    <a:pt x="506805" y="1880327"/>
                  </a:lnTo>
                  <a:lnTo>
                    <a:pt x="547124" y="1902119"/>
                  </a:lnTo>
                  <a:lnTo>
                    <a:pt x="588290" y="1922003"/>
                  </a:lnTo>
                  <a:lnTo>
                    <a:pt x="630232" y="1939962"/>
                  </a:lnTo>
                  <a:lnTo>
                    <a:pt x="672875" y="1955983"/>
                  </a:lnTo>
                  <a:lnTo>
                    <a:pt x="716147" y="1970050"/>
                  </a:lnTo>
                  <a:lnTo>
                    <a:pt x="759974" y="1982149"/>
                  </a:lnTo>
                  <a:lnTo>
                    <a:pt x="804284" y="1992264"/>
                  </a:lnTo>
                  <a:lnTo>
                    <a:pt x="849003" y="2000382"/>
                  </a:lnTo>
                  <a:lnTo>
                    <a:pt x="894058" y="2006486"/>
                  </a:lnTo>
                  <a:lnTo>
                    <a:pt x="939377" y="2010561"/>
                  </a:lnTo>
                  <a:lnTo>
                    <a:pt x="984885" y="2012594"/>
                  </a:lnTo>
                  <a:lnTo>
                    <a:pt x="1030511" y="2012569"/>
                  </a:lnTo>
                  <a:lnTo>
                    <a:pt x="1076180" y="2010471"/>
                  </a:lnTo>
                  <a:lnTo>
                    <a:pt x="1121820" y="2006286"/>
                  </a:lnTo>
                  <a:lnTo>
                    <a:pt x="1167358" y="1999998"/>
                  </a:lnTo>
                  <a:lnTo>
                    <a:pt x="1212721" y="1991592"/>
                  </a:lnTo>
                  <a:lnTo>
                    <a:pt x="1257835" y="1981054"/>
                  </a:lnTo>
                  <a:lnTo>
                    <a:pt x="1302628" y="1968368"/>
                  </a:lnTo>
                  <a:lnTo>
                    <a:pt x="1347025" y="1953520"/>
                  </a:lnTo>
                  <a:lnTo>
                    <a:pt x="1390956" y="1936495"/>
                  </a:lnTo>
                  <a:lnTo>
                    <a:pt x="1434345" y="1917278"/>
                  </a:lnTo>
                  <a:lnTo>
                    <a:pt x="1477120" y="1895854"/>
                  </a:lnTo>
                  <a:lnTo>
                    <a:pt x="1519209" y="1872208"/>
                  </a:lnTo>
                  <a:lnTo>
                    <a:pt x="1560537" y="1846326"/>
                  </a:lnTo>
                  <a:lnTo>
                    <a:pt x="1600597" y="1818495"/>
                  </a:lnTo>
                  <a:lnTo>
                    <a:pt x="1638899" y="1789087"/>
                  </a:lnTo>
                  <a:lnTo>
                    <a:pt x="1675426" y="1758174"/>
                  </a:lnTo>
                  <a:lnTo>
                    <a:pt x="1710164" y="1725830"/>
                  </a:lnTo>
                  <a:lnTo>
                    <a:pt x="1743099" y="1692128"/>
                  </a:lnTo>
                  <a:lnTo>
                    <a:pt x="1774214" y="1657140"/>
                  </a:lnTo>
                  <a:lnTo>
                    <a:pt x="1803495" y="1620939"/>
                  </a:lnTo>
                  <a:lnTo>
                    <a:pt x="1830927" y="1583599"/>
                  </a:lnTo>
                  <a:lnTo>
                    <a:pt x="1856496" y="1545192"/>
                  </a:lnTo>
                  <a:lnTo>
                    <a:pt x="1880185" y="1505792"/>
                  </a:lnTo>
                  <a:lnTo>
                    <a:pt x="1901981" y="1465472"/>
                  </a:lnTo>
                  <a:lnTo>
                    <a:pt x="1921868" y="1424304"/>
                  </a:lnTo>
                  <a:lnTo>
                    <a:pt x="1939831" y="1382362"/>
                  </a:lnTo>
                  <a:lnTo>
                    <a:pt x="1955855" y="1339718"/>
                  </a:lnTo>
                  <a:lnTo>
                    <a:pt x="1969926" y="1296446"/>
                  </a:lnTo>
                  <a:lnTo>
                    <a:pt x="1982028" y="1252619"/>
                  </a:lnTo>
                  <a:lnTo>
                    <a:pt x="1992146" y="1208309"/>
                  </a:lnTo>
                  <a:lnTo>
                    <a:pt x="2000266" y="1163590"/>
                  </a:lnTo>
                  <a:lnTo>
                    <a:pt x="2006373" y="1118535"/>
                  </a:lnTo>
                  <a:lnTo>
                    <a:pt x="2010450" y="1073216"/>
                  </a:lnTo>
                  <a:lnTo>
                    <a:pt x="2012484" y="1027707"/>
                  </a:lnTo>
                  <a:lnTo>
                    <a:pt x="2012460" y="982081"/>
                  </a:lnTo>
                  <a:lnTo>
                    <a:pt x="2010362" y="936410"/>
                  </a:lnTo>
                  <a:lnTo>
                    <a:pt x="2006176" y="890768"/>
                  </a:lnTo>
                  <a:lnTo>
                    <a:pt x="1999887" y="845228"/>
                  </a:lnTo>
                  <a:lnTo>
                    <a:pt x="1991479" y="799863"/>
                  </a:lnTo>
                  <a:lnTo>
                    <a:pt x="1980938" y="754745"/>
                  </a:lnTo>
                  <a:lnTo>
                    <a:pt x="1968248" y="709948"/>
                  </a:lnTo>
                  <a:lnTo>
                    <a:pt x="1953396" y="665545"/>
                  </a:lnTo>
                  <a:lnTo>
                    <a:pt x="1936365" y="621609"/>
                  </a:lnTo>
                  <a:lnTo>
                    <a:pt x="1917141" y="578213"/>
                  </a:lnTo>
                  <a:lnTo>
                    <a:pt x="1895709" y="535429"/>
                  </a:lnTo>
                  <a:lnTo>
                    <a:pt x="1872053" y="493331"/>
                  </a:lnTo>
                  <a:lnTo>
                    <a:pt x="1846160" y="451993"/>
                  </a:lnTo>
                  <a:lnTo>
                    <a:pt x="1006182" y="1006348"/>
                  </a:lnTo>
                  <a:lnTo>
                    <a:pt x="100618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79920" y="2107666"/>
              <a:ext cx="400773" cy="29568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05828" y="2133600"/>
              <a:ext cx="298703" cy="19354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033386" y="2134616"/>
            <a:ext cx="245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16%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79820" y="3441166"/>
            <a:ext cx="401320" cy="295910"/>
            <a:chOff x="6179820" y="3441166"/>
            <a:chExt cx="401320" cy="29591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9820" y="3441166"/>
              <a:ext cx="400773" cy="2956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05728" y="3467100"/>
              <a:ext cx="298703" cy="19354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232905" y="3468370"/>
            <a:ext cx="245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84%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23026" y="1150112"/>
            <a:ext cx="2606040" cy="45783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06450" marR="5080" indent="-794385">
              <a:lnSpc>
                <a:spcPct val="102099"/>
              </a:lnSpc>
              <a:spcBef>
                <a:spcPts val="65"/>
              </a:spcBef>
            </a:pPr>
            <a:r>
              <a:rPr sz="1400" b="1" spc="-10" dirty="0">
                <a:solidFill>
                  <a:srgbClr val="404040"/>
                </a:solidFill>
                <a:latin typeface="Calibri"/>
                <a:cs typeface="Calibri"/>
              </a:rPr>
              <a:t>AC</a:t>
            </a:r>
            <a:r>
              <a:rPr sz="14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alibri"/>
                <a:cs typeface="Calibri"/>
              </a:rPr>
              <a:t>Block</a:t>
            </a:r>
            <a:r>
              <a:rPr sz="14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sz="14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Area</a:t>
            </a:r>
            <a:r>
              <a:rPr sz="14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sz="14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by </a:t>
            </a:r>
            <a:r>
              <a:rPr sz="1400" b="1" spc="-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sz="14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Category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59495" y="2720339"/>
            <a:ext cx="789940" cy="428625"/>
            <a:chOff x="8159495" y="2720339"/>
            <a:chExt cx="789940" cy="428625"/>
          </a:xfrm>
        </p:grpSpPr>
        <p:sp>
          <p:nvSpPr>
            <p:cNvPr id="22" name="object 22"/>
            <p:cNvSpPr/>
            <p:nvPr/>
          </p:nvSpPr>
          <p:spPr>
            <a:xfrm>
              <a:off x="8159495" y="2720339"/>
              <a:ext cx="789940" cy="428625"/>
            </a:xfrm>
            <a:custGeom>
              <a:avLst/>
              <a:gdLst/>
              <a:ahLst/>
              <a:cxnLst/>
              <a:rect l="l" t="t" r="r" b="b"/>
              <a:pathLst>
                <a:path w="789940" h="428625">
                  <a:moveTo>
                    <a:pt x="789431" y="0"/>
                  </a:moveTo>
                  <a:lnTo>
                    <a:pt x="0" y="0"/>
                  </a:lnTo>
                  <a:lnTo>
                    <a:pt x="0" y="428243"/>
                  </a:lnTo>
                  <a:lnTo>
                    <a:pt x="789431" y="428243"/>
                  </a:lnTo>
                  <a:lnTo>
                    <a:pt x="789431" y="0"/>
                  </a:lnTo>
                  <a:close/>
                </a:path>
              </a:pathLst>
            </a:custGeom>
            <a:solidFill>
              <a:srgbClr val="F1F1F1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20455" y="2796539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62483" y="62484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220455" y="3009899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62483" y="62484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159495" y="2720339"/>
            <a:ext cx="789940" cy="42862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200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Government</a:t>
            </a:r>
            <a:endParaRPr sz="9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60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Residential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425440" y="1075944"/>
            <a:ext cx="3599815" cy="3168650"/>
          </a:xfrm>
          <a:custGeom>
            <a:avLst/>
            <a:gdLst/>
            <a:ahLst/>
            <a:cxnLst/>
            <a:rect l="l" t="t" r="r" b="b"/>
            <a:pathLst>
              <a:path w="3599815" h="3168650">
                <a:moveTo>
                  <a:pt x="0" y="3168395"/>
                </a:moveTo>
                <a:lnTo>
                  <a:pt x="3599688" y="3168395"/>
                </a:lnTo>
                <a:lnTo>
                  <a:pt x="3599688" y="0"/>
                </a:lnTo>
                <a:lnTo>
                  <a:pt x="0" y="0"/>
                </a:lnTo>
                <a:lnTo>
                  <a:pt x="0" y="3168395"/>
                </a:lnTo>
                <a:close/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5425440" y="4349496"/>
            <a:ext cx="3599815" cy="2087880"/>
            <a:chOff x="5425440" y="4349496"/>
            <a:chExt cx="3599815" cy="2087880"/>
          </a:xfrm>
        </p:grpSpPr>
        <p:sp>
          <p:nvSpPr>
            <p:cNvPr id="28" name="object 28"/>
            <p:cNvSpPr/>
            <p:nvPr/>
          </p:nvSpPr>
          <p:spPr>
            <a:xfrm>
              <a:off x="5425440" y="4349496"/>
              <a:ext cx="3599815" cy="2087880"/>
            </a:xfrm>
            <a:custGeom>
              <a:avLst/>
              <a:gdLst/>
              <a:ahLst/>
              <a:cxnLst/>
              <a:rect l="l" t="t" r="r" b="b"/>
              <a:pathLst>
                <a:path w="3599815" h="2087879">
                  <a:moveTo>
                    <a:pt x="3599688" y="0"/>
                  </a:moveTo>
                  <a:lnTo>
                    <a:pt x="0" y="0"/>
                  </a:lnTo>
                  <a:lnTo>
                    <a:pt x="0" y="2087879"/>
                  </a:lnTo>
                  <a:lnTo>
                    <a:pt x="3599688" y="2087879"/>
                  </a:lnTo>
                  <a:lnTo>
                    <a:pt x="3599688" y="0"/>
                  </a:lnTo>
                  <a:close/>
                </a:path>
              </a:pathLst>
            </a:custGeom>
            <a:solidFill>
              <a:srgbClr val="DEEBF7">
                <a:alpha val="5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11596" y="4768558"/>
              <a:ext cx="1599311" cy="166729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36336" y="4867643"/>
              <a:ext cx="1139151" cy="148971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5040" y="4774692"/>
              <a:ext cx="837641" cy="113915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178804" y="5036947"/>
              <a:ext cx="1080770" cy="1260475"/>
            </a:xfrm>
            <a:custGeom>
              <a:avLst/>
              <a:gdLst/>
              <a:ahLst/>
              <a:cxnLst/>
              <a:rect l="l" t="t" r="r" b="b"/>
              <a:pathLst>
                <a:path w="1080770" h="1260475">
                  <a:moveTo>
                    <a:pt x="450596" y="0"/>
                  </a:moveTo>
                  <a:lnTo>
                    <a:pt x="450596" y="630046"/>
                  </a:lnTo>
                  <a:lnTo>
                    <a:pt x="0" y="1070419"/>
                  </a:lnTo>
                  <a:lnTo>
                    <a:pt x="36832" y="1105216"/>
                  </a:lnTo>
                  <a:lnTo>
                    <a:pt x="76086" y="1136745"/>
                  </a:lnTo>
                  <a:lnTo>
                    <a:pt x="117539" y="1164911"/>
                  </a:lnTo>
                  <a:lnTo>
                    <a:pt x="160968" y="1189624"/>
                  </a:lnTo>
                  <a:lnTo>
                    <a:pt x="206152" y="1210789"/>
                  </a:lnTo>
                  <a:lnTo>
                    <a:pt x="252868" y="1228314"/>
                  </a:lnTo>
                  <a:lnTo>
                    <a:pt x="300892" y="1242106"/>
                  </a:lnTo>
                  <a:lnTo>
                    <a:pt x="350003" y="1252072"/>
                  </a:lnTo>
                  <a:lnTo>
                    <a:pt x="399979" y="1258120"/>
                  </a:lnTo>
                  <a:lnTo>
                    <a:pt x="450596" y="1260157"/>
                  </a:lnTo>
                  <a:lnTo>
                    <a:pt x="497635" y="1258429"/>
                  </a:lnTo>
                  <a:lnTo>
                    <a:pt x="543734" y="1253325"/>
                  </a:lnTo>
                  <a:lnTo>
                    <a:pt x="588771" y="1244967"/>
                  </a:lnTo>
                  <a:lnTo>
                    <a:pt x="632624" y="1233478"/>
                  </a:lnTo>
                  <a:lnTo>
                    <a:pt x="675172" y="1218979"/>
                  </a:lnTo>
                  <a:lnTo>
                    <a:pt x="716292" y="1201592"/>
                  </a:lnTo>
                  <a:lnTo>
                    <a:pt x="755863" y="1181438"/>
                  </a:lnTo>
                  <a:lnTo>
                    <a:pt x="793763" y="1158640"/>
                  </a:lnTo>
                  <a:lnTo>
                    <a:pt x="829871" y="1133320"/>
                  </a:lnTo>
                  <a:lnTo>
                    <a:pt x="864065" y="1105599"/>
                  </a:lnTo>
                  <a:lnTo>
                    <a:pt x="896223" y="1075599"/>
                  </a:lnTo>
                  <a:lnTo>
                    <a:pt x="926223" y="1043442"/>
                  </a:lnTo>
                  <a:lnTo>
                    <a:pt x="953943" y="1009250"/>
                  </a:lnTo>
                  <a:lnTo>
                    <a:pt x="979263" y="973145"/>
                  </a:lnTo>
                  <a:lnTo>
                    <a:pt x="1002059" y="935248"/>
                  </a:lnTo>
                  <a:lnTo>
                    <a:pt x="1022211" y="895682"/>
                  </a:lnTo>
                  <a:lnTo>
                    <a:pt x="1039597" y="854568"/>
                  </a:lnTo>
                  <a:lnTo>
                    <a:pt x="1054094" y="812028"/>
                  </a:lnTo>
                  <a:lnTo>
                    <a:pt x="1065582" y="768184"/>
                  </a:lnTo>
                  <a:lnTo>
                    <a:pt x="1073938" y="723158"/>
                  </a:lnTo>
                  <a:lnTo>
                    <a:pt x="1079041" y="677071"/>
                  </a:lnTo>
                  <a:lnTo>
                    <a:pt x="1080770" y="630046"/>
                  </a:lnTo>
                  <a:lnTo>
                    <a:pt x="1079041" y="583024"/>
                  </a:lnTo>
                  <a:lnTo>
                    <a:pt x="1073938" y="536939"/>
                  </a:lnTo>
                  <a:lnTo>
                    <a:pt x="1065582" y="491916"/>
                  </a:lnTo>
                  <a:lnTo>
                    <a:pt x="1054094" y="448075"/>
                  </a:lnTo>
                  <a:lnTo>
                    <a:pt x="1039597" y="405539"/>
                  </a:lnTo>
                  <a:lnTo>
                    <a:pt x="1022211" y="364428"/>
                  </a:lnTo>
                  <a:lnTo>
                    <a:pt x="1002059" y="324866"/>
                  </a:lnTo>
                  <a:lnTo>
                    <a:pt x="979263" y="286973"/>
                  </a:lnTo>
                  <a:lnTo>
                    <a:pt x="953943" y="250871"/>
                  </a:lnTo>
                  <a:lnTo>
                    <a:pt x="926223" y="216683"/>
                  </a:lnTo>
                  <a:lnTo>
                    <a:pt x="896223" y="184531"/>
                  </a:lnTo>
                  <a:lnTo>
                    <a:pt x="864065" y="154534"/>
                  </a:lnTo>
                  <a:lnTo>
                    <a:pt x="829871" y="126817"/>
                  </a:lnTo>
                  <a:lnTo>
                    <a:pt x="793763" y="101500"/>
                  </a:lnTo>
                  <a:lnTo>
                    <a:pt x="755863" y="78706"/>
                  </a:lnTo>
                  <a:lnTo>
                    <a:pt x="716292" y="58555"/>
                  </a:lnTo>
                  <a:lnTo>
                    <a:pt x="675172" y="41171"/>
                  </a:lnTo>
                  <a:lnTo>
                    <a:pt x="632624" y="26674"/>
                  </a:lnTo>
                  <a:lnTo>
                    <a:pt x="588771" y="15187"/>
                  </a:lnTo>
                  <a:lnTo>
                    <a:pt x="543734" y="6830"/>
                  </a:lnTo>
                  <a:lnTo>
                    <a:pt x="497635" y="1728"/>
                  </a:lnTo>
                  <a:lnTo>
                    <a:pt x="45059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99400" y="5133213"/>
              <a:ext cx="630555" cy="974725"/>
            </a:xfrm>
            <a:custGeom>
              <a:avLst/>
              <a:gdLst/>
              <a:ahLst/>
              <a:cxnLst/>
              <a:rect l="l" t="t" r="r" b="b"/>
              <a:pathLst>
                <a:path w="630554" h="974725">
                  <a:moveTo>
                    <a:pt x="295354" y="0"/>
                  </a:moveTo>
                  <a:lnTo>
                    <a:pt x="240284" y="38719"/>
                  </a:lnTo>
                  <a:lnTo>
                    <a:pt x="189690" y="83057"/>
                  </a:lnTo>
                  <a:lnTo>
                    <a:pt x="157261" y="117159"/>
                  </a:lnTo>
                  <a:lnTo>
                    <a:pt x="127863" y="153019"/>
                  </a:lnTo>
                  <a:lnTo>
                    <a:pt x="101499" y="190466"/>
                  </a:lnTo>
                  <a:lnTo>
                    <a:pt x="78169" y="229327"/>
                  </a:lnTo>
                  <a:lnTo>
                    <a:pt x="57876" y="269429"/>
                  </a:lnTo>
                  <a:lnTo>
                    <a:pt x="40622" y="310601"/>
                  </a:lnTo>
                  <a:lnTo>
                    <a:pt x="26408" y="352671"/>
                  </a:lnTo>
                  <a:lnTo>
                    <a:pt x="15237" y="395465"/>
                  </a:lnTo>
                  <a:lnTo>
                    <a:pt x="7111" y="438811"/>
                  </a:lnTo>
                  <a:lnTo>
                    <a:pt x="2031" y="482538"/>
                  </a:lnTo>
                  <a:lnTo>
                    <a:pt x="0" y="526472"/>
                  </a:lnTo>
                  <a:lnTo>
                    <a:pt x="1018" y="570441"/>
                  </a:lnTo>
                  <a:lnTo>
                    <a:pt x="5090" y="614273"/>
                  </a:lnTo>
                  <a:lnTo>
                    <a:pt x="12215" y="657796"/>
                  </a:lnTo>
                  <a:lnTo>
                    <a:pt x="22397" y="700837"/>
                  </a:lnTo>
                  <a:lnTo>
                    <a:pt x="35636" y="743223"/>
                  </a:lnTo>
                  <a:lnTo>
                    <a:pt x="51936" y="784784"/>
                  </a:lnTo>
                  <a:lnTo>
                    <a:pt x="71298" y="825345"/>
                  </a:lnTo>
                  <a:lnTo>
                    <a:pt x="93723" y="864735"/>
                  </a:lnTo>
                  <a:lnTo>
                    <a:pt x="119215" y="902781"/>
                  </a:lnTo>
                  <a:lnTo>
                    <a:pt x="147774" y="939311"/>
                  </a:lnTo>
                  <a:lnTo>
                    <a:pt x="179403" y="974153"/>
                  </a:lnTo>
                  <a:lnTo>
                    <a:pt x="629999" y="533781"/>
                  </a:lnTo>
                  <a:lnTo>
                    <a:pt x="29535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94755" y="5036947"/>
              <a:ext cx="334645" cy="630555"/>
            </a:xfrm>
            <a:custGeom>
              <a:avLst/>
              <a:gdLst/>
              <a:ahLst/>
              <a:cxnLst/>
              <a:rect l="l" t="t" r="r" b="b"/>
              <a:pathLst>
                <a:path w="334645" h="630554">
                  <a:moveTo>
                    <a:pt x="334645" y="0"/>
                  </a:moveTo>
                  <a:lnTo>
                    <a:pt x="284103" y="2026"/>
                  </a:lnTo>
                  <a:lnTo>
                    <a:pt x="234089" y="8065"/>
                  </a:lnTo>
                  <a:lnTo>
                    <a:pt x="184832" y="18054"/>
                  </a:lnTo>
                  <a:lnTo>
                    <a:pt x="136563" y="31931"/>
                  </a:lnTo>
                  <a:lnTo>
                    <a:pt x="89514" y="49633"/>
                  </a:lnTo>
                  <a:lnTo>
                    <a:pt x="43916" y="71099"/>
                  </a:lnTo>
                  <a:lnTo>
                    <a:pt x="0" y="96265"/>
                  </a:lnTo>
                  <a:lnTo>
                    <a:pt x="334645" y="630046"/>
                  </a:lnTo>
                  <a:lnTo>
                    <a:pt x="33464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45224" y="5666232"/>
              <a:ext cx="399275" cy="29568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71132" y="5692140"/>
              <a:ext cx="297179" cy="19354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796531" y="5694375"/>
            <a:ext cx="245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63%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141720" y="5507735"/>
            <a:ext cx="399415" cy="294640"/>
            <a:chOff x="6141720" y="5507735"/>
            <a:chExt cx="399415" cy="294640"/>
          </a:xfrm>
        </p:grpSpPr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41720" y="5507735"/>
              <a:ext cx="399275" cy="29418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67628" y="5533643"/>
              <a:ext cx="297179" cy="19202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193282" y="5534964"/>
            <a:ext cx="245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28%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399276" y="5241010"/>
            <a:ext cx="335280" cy="295910"/>
            <a:chOff x="6399276" y="5241010"/>
            <a:chExt cx="335280" cy="295910"/>
          </a:xfrm>
        </p:grpSpPr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99276" y="5241010"/>
              <a:ext cx="335254" cy="29568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25184" y="5266944"/>
              <a:ext cx="233171" cy="193547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451219" y="5269229"/>
            <a:ext cx="181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9%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23026" y="4423409"/>
            <a:ext cx="2606040" cy="45783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904240" marR="5080" indent="-891540">
              <a:lnSpc>
                <a:spcPct val="102099"/>
              </a:lnSpc>
              <a:spcBef>
                <a:spcPts val="65"/>
              </a:spcBef>
            </a:pPr>
            <a:r>
              <a:rPr sz="1400" b="1" spc="-10" dirty="0">
                <a:solidFill>
                  <a:srgbClr val="404040"/>
                </a:solidFill>
                <a:latin typeface="Calibri"/>
                <a:cs typeface="Calibri"/>
              </a:rPr>
              <a:t>AC</a:t>
            </a:r>
            <a:r>
              <a:rPr sz="14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alibri"/>
                <a:cs typeface="Calibri"/>
              </a:rPr>
              <a:t>Block</a:t>
            </a:r>
            <a:r>
              <a:rPr sz="14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sz="14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Area</a:t>
            </a:r>
            <a:r>
              <a:rPr sz="14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sz="14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by </a:t>
            </a:r>
            <a:r>
              <a:rPr sz="1400" b="1" spc="-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sz="14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404040"/>
                </a:solidFill>
                <a:latin typeface="Calibri"/>
                <a:cs typeface="Calibri"/>
              </a:rPr>
              <a:t>Status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833359" y="5346191"/>
            <a:ext cx="1115695" cy="641985"/>
            <a:chOff x="7833359" y="5346191"/>
            <a:chExt cx="1115695" cy="641985"/>
          </a:xfrm>
        </p:grpSpPr>
        <p:sp>
          <p:nvSpPr>
            <p:cNvPr id="48" name="object 48"/>
            <p:cNvSpPr/>
            <p:nvPr/>
          </p:nvSpPr>
          <p:spPr>
            <a:xfrm>
              <a:off x="7833359" y="5346191"/>
              <a:ext cx="1115695" cy="641985"/>
            </a:xfrm>
            <a:custGeom>
              <a:avLst/>
              <a:gdLst/>
              <a:ahLst/>
              <a:cxnLst/>
              <a:rect l="l" t="t" r="r" b="b"/>
              <a:pathLst>
                <a:path w="1115695" h="641985">
                  <a:moveTo>
                    <a:pt x="1115568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1115568" y="641603"/>
                  </a:lnTo>
                  <a:lnTo>
                    <a:pt x="1115568" y="0"/>
                  </a:lnTo>
                  <a:close/>
                </a:path>
              </a:pathLst>
            </a:custGeom>
            <a:solidFill>
              <a:srgbClr val="F1F1F1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894319" y="5420867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3"/>
                  </a:lnTo>
                  <a:lnTo>
                    <a:pt x="62483" y="62483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894319" y="5635751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62483" y="62484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894319" y="5850635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3"/>
                  </a:lnTo>
                  <a:lnTo>
                    <a:pt x="62483" y="62483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833359" y="5346191"/>
            <a:ext cx="1115695" cy="64198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200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Constructed</a:t>
            </a:r>
            <a:endParaRPr sz="9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605"/>
              </a:spcBef>
            </a:pPr>
            <a:r>
              <a:rPr sz="900" dirty="0">
                <a:solidFill>
                  <a:srgbClr val="404040"/>
                </a:solidFill>
                <a:latin typeface="Calibri"/>
                <a:cs typeface="Calibri"/>
              </a:rPr>
              <a:t>Empty</a:t>
            </a:r>
            <a:r>
              <a:rPr sz="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endParaRPr sz="9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404040"/>
                </a:solidFill>
                <a:latin typeface="Calibri"/>
                <a:cs typeface="Calibri"/>
              </a:rPr>
              <a:t>Under</a:t>
            </a:r>
            <a:r>
              <a:rPr sz="9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Construction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425440" y="4349496"/>
            <a:ext cx="3599815" cy="2087880"/>
          </a:xfrm>
          <a:custGeom>
            <a:avLst/>
            <a:gdLst/>
            <a:ahLst/>
            <a:cxnLst/>
            <a:rect l="l" t="t" r="r" b="b"/>
            <a:pathLst>
              <a:path w="3599815" h="2087879">
                <a:moveTo>
                  <a:pt x="0" y="2087879"/>
                </a:moveTo>
                <a:lnTo>
                  <a:pt x="3599688" y="2087879"/>
                </a:lnTo>
                <a:lnTo>
                  <a:pt x="3599688" y="0"/>
                </a:lnTo>
                <a:lnTo>
                  <a:pt x="0" y="0"/>
                </a:lnTo>
                <a:lnTo>
                  <a:pt x="0" y="2087879"/>
                </a:lnTo>
                <a:close/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335279" y="1075944"/>
            <a:ext cx="4038600" cy="3168650"/>
            <a:chOff x="335279" y="1075944"/>
            <a:chExt cx="4038600" cy="3168650"/>
          </a:xfrm>
        </p:grpSpPr>
        <p:sp>
          <p:nvSpPr>
            <p:cNvPr id="55" name="object 55"/>
            <p:cNvSpPr/>
            <p:nvPr/>
          </p:nvSpPr>
          <p:spPr>
            <a:xfrm>
              <a:off x="335279" y="1075944"/>
              <a:ext cx="4038600" cy="3168650"/>
            </a:xfrm>
            <a:custGeom>
              <a:avLst/>
              <a:gdLst/>
              <a:ahLst/>
              <a:cxnLst/>
              <a:rect l="l" t="t" r="r" b="b"/>
              <a:pathLst>
                <a:path w="4038600" h="3168650">
                  <a:moveTo>
                    <a:pt x="4038600" y="0"/>
                  </a:moveTo>
                  <a:lnTo>
                    <a:pt x="0" y="0"/>
                  </a:lnTo>
                  <a:lnTo>
                    <a:pt x="0" y="3168395"/>
                  </a:lnTo>
                  <a:lnTo>
                    <a:pt x="4038600" y="3168395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DEEBF7">
                <a:alpha val="5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3040126"/>
              <a:ext cx="2606040" cy="952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880105"/>
              <a:ext cx="2606040" cy="952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721610"/>
              <a:ext cx="2606040" cy="952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561590"/>
              <a:ext cx="2606040" cy="952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401569"/>
              <a:ext cx="2606040" cy="95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243074"/>
              <a:ext cx="2606040" cy="952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083054"/>
              <a:ext cx="2606040" cy="952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1923033"/>
              <a:ext cx="2606040" cy="952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1764665"/>
              <a:ext cx="2606040" cy="952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1604518"/>
              <a:ext cx="2606040" cy="952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885188" y="2110739"/>
              <a:ext cx="2092960" cy="1092835"/>
            </a:xfrm>
            <a:custGeom>
              <a:avLst/>
              <a:gdLst/>
              <a:ahLst/>
              <a:cxnLst/>
              <a:rect l="l" t="t" r="r" b="b"/>
              <a:pathLst>
                <a:path w="2092960" h="1092835">
                  <a:moveTo>
                    <a:pt x="789432" y="658368"/>
                  </a:moveTo>
                  <a:lnTo>
                    <a:pt x="0" y="658368"/>
                  </a:lnTo>
                  <a:lnTo>
                    <a:pt x="0" y="1092708"/>
                  </a:lnTo>
                  <a:lnTo>
                    <a:pt x="789432" y="1092708"/>
                  </a:lnTo>
                  <a:lnTo>
                    <a:pt x="789432" y="658368"/>
                  </a:lnTo>
                  <a:close/>
                </a:path>
                <a:path w="2092960" h="1092835">
                  <a:moveTo>
                    <a:pt x="2092452" y="0"/>
                  </a:moveTo>
                  <a:lnTo>
                    <a:pt x="1303020" y="0"/>
                  </a:lnTo>
                  <a:lnTo>
                    <a:pt x="1303020" y="1092708"/>
                  </a:lnTo>
                  <a:lnTo>
                    <a:pt x="2092452" y="1092708"/>
                  </a:lnTo>
                  <a:lnTo>
                    <a:pt x="2092452" y="0"/>
                  </a:lnTo>
                  <a:close/>
                </a:path>
              </a:pathLst>
            </a:custGeom>
            <a:solidFill>
              <a:srgbClr val="8277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85188" y="2110740"/>
              <a:ext cx="2092960" cy="1092835"/>
            </a:xfrm>
            <a:custGeom>
              <a:avLst/>
              <a:gdLst/>
              <a:ahLst/>
              <a:cxnLst/>
              <a:rect l="l" t="t" r="r" b="b"/>
              <a:pathLst>
                <a:path w="2092960" h="1092835">
                  <a:moveTo>
                    <a:pt x="0" y="658368"/>
                  </a:moveTo>
                  <a:lnTo>
                    <a:pt x="789432" y="658368"/>
                  </a:lnTo>
                  <a:lnTo>
                    <a:pt x="789432" y="1092708"/>
                  </a:lnTo>
                  <a:lnTo>
                    <a:pt x="0" y="1092708"/>
                  </a:lnTo>
                  <a:lnTo>
                    <a:pt x="0" y="658368"/>
                  </a:lnTo>
                  <a:close/>
                </a:path>
                <a:path w="2092960" h="1092835">
                  <a:moveTo>
                    <a:pt x="1303020" y="0"/>
                  </a:moveTo>
                  <a:lnTo>
                    <a:pt x="2092452" y="0"/>
                  </a:lnTo>
                  <a:lnTo>
                    <a:pt x="2092452" y="1092708"/>
                  </a:lnTo>
                  <a:lnTo>
                    <a:pt x="1303020" y="1092708"/>
                  </a:lnTo>
                  <a:lnTo>
                    <a:pt x="130302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85188" y="1754124"/>
              <a:ext cx="789940" cy="1015365"/>
            </a:xfrm>
            <a:custGeom>
              <a:avLst/>
              <a:gdLst/>
              <a:ahLst/>
              <a:cxnLst/>
              <a:rect l="l" t="t" r="r" b="b"/>
              <a:pathLst>
                <a:path w="789939" h="1015364">
                  <a:moveTo>
                    <a:pt x="789432" y="0"/>
                  </a:moveTo>
                  <a:lnTo>
                    <a:pt x="0" y="0"/>
                  </a:lnTo>
                  <a:lnTo>
                    <a:pt x="0" y="1014984"/>
                  </a:lnTo>
                  <a:lnTo>
                    <a:pt x="789432" y="1014984"/>
                  </a:lnTo>
                  <a:lnTo>
                    <a:pt x="789432" y="0"/>
                  </a:lnTo>
                  <a:close/>
                </a:path>
              </a:pathLst>
            </a:custGeom>
            <a:solidFill>
              <a:srgbClr val="DF7B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85188" y="1754124"/>
              <a:ext cx="789940" cy="1015365"/>
            </a:xfrm>
            <a:custGeom>
              <a:avLst/>
              <a:gdLst/>
              <a:ahLst/>
              <a:cxnLst/>
              <a:rect l="l" t="t" r="r" b="b"/>
              <a:pathLst>
                <a:path w="789939" h="1015364">
                  <a:moveTo>
                    <a:pt x="0" y="1014984"/>
                  </a:moveTo>
                  <a:lnTo>
                    <a:pt x="789432" y="1014984"/>
                  </a:lnTo>
                  <a:lnTo>
                    <a:pt x="789432" y="0"/>
                  </a:lnTo>
                  <a:lnTo>
                    <a:pt x="0" y="0"/>
                  </a:lnTo>
                  <a:lnTo>
                    <a:pt x="0" y="10149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188207" y="1763268"/>
              <a:ext cx="789940" cy="347980"/>
            </a:xfrm>
            <a:custGeom>
              <a:avLst/>
              <a:gdLst/>
              <a:ahLst/>
              <a:cxnLst/>
              <a:rect l="l" t="t" r="r" b="b"/>
              <a:pathLst>
                <a:path w="789939" h="347980">
                  <a:moveTo>
                    <a:pt x="789432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789432" y="347472"/>
                  </a:lnTo>
                  <a:lnTo>
                    <a:pt x="789432" y="0"/>
                  </a:lnTo>
                  <a:close/>
                </a:path>
              </a:pathLst>
            </a:custGeom>
            <a:solidFill>
              <a:srgbClr val="DF7B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188207" y="1763268"/>
              <a:ext cx="789940" cy="347980"/>
            </a:xfrm>
            <a:custGeom>
              <a:avLst/>
              <a:gdLst/>
              <a:ahLst/>
              <a:cxnLst/>
              <a:rect l="l" t="t" r="r" b="b"/>
              <a:pathLst>
                <a:path w="789939" h="347980">
                  <a:moveTo>
                    <a:pt x="0" y="347472"/>
                  </a:moveTo>
                  <a:lnTo>
                    <a:pt x="789432" y="347472"/>
                  </a:lnTo>
                  <a:lnTo>
                    <a:pt x="789432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85188" y="1609344"/>
              <a:ext cx="789940" cy="144780"/>
            </a:xfrm>
            <a:custGeom>
              <a:avLst/>
              <a:gdLst/>
              <a:ahLst/>
              <a:cxnLst/>
              <a:rect l="l" t="t" r="r" b="b"/>
              <a:pathLst>
                <a:path w="789939" h="144780">
                  <a:moveTo>
                    <a:pt x="789432" y="0"/>
                  </a:moveTo>
                  <a:lnTo>
                    <a:pt x="0" y="0"/>
                  </a:lnTo>
                  <a:lnTo>
                    <a:pt x="0" y="144779"/>
                  </a:lnTo>
                  <a:lnTo>
                    <a:pt x="789432" y="144779"/>
                  </a:lnTo>
                  <a:lnTo>
                    <a:pt x="789432" y="0"/>
                  </a:lnTo>
                  <a:close/>
                </a:path>
              </a:pathLst>
            </a:custGeom>
            <a:solidFill>
              <a:srgbClr val="DF1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885188" y="1609344"/>
              <a:ext cx="789940" cy="144780"/>
            </a:xfrm>
            <a:custGeom>
              <a:avLst/>
              <a:gdLst/>
              <a:ahLst/>
              <a:cxnLst/>
              <a:rect l="l" t="t" r="r" b="b"/>
              <a:pathLst>
                <a:path w="789939" h="144780">
                  <a:moveTo>
                    <a:pt x="0" y="144779"/>
                  </a:moveTo>
                  <a:lnTo>
                    <a:pt x="789432" y="144779"/>
                  </a:lnTo>
                  <a:lnTo>
                    <a:pt x="789432" y="0"/>
                  </a:lnTo>
                  <a:lnTo>
                    <a:pt x="0" y="0"/>
                  </a:lnTo>
                  <a:lnTo>
                    <a:pt x="0" y="14477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188207" y="1609344"/>
              <a:ext cx="789940" cy="154305"/>
            </a:xfrm>
            <a:custGeom>
              <a:avLst/>
              <a:gdLst/>
              <a:ahLst/>
              <a:cxnLst/>
              <a:rect l="l" t="t" r="r" b="b"/>
              <a:pathLst>
                <a:path w="789939" h="154305">
                  <a:moveTo>
                    <a:pt x="789432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789432" y="153924"/>
                  </a:lnTo>
                  <a:lnTo>
                    <a:pt x="789432" y="0"/>
                  </a:lnTo>
                  <a:close/>
                </a:path>
              </a:pathLst>
            </a:custGeom>
            <a:solidFill>
              <a:srgbClr val="DF1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188207" y="1609344"/>
              <a:ext cx="789940" cy="154305"/>
            </a:xfrm>
            <a:custGeom>
              <a:avLst/>
              <a:gdLst/>
              <a:ahLst/>
              <a:cxnLst/>
              <a:rect l="l" t="t" r="r" b="b"/>
              <a:pathLst>
                <a:path w="789939" h="154305">
                  <a:moveTo>
                    <a:pt x="0" y="153924"/>
                  </a:moveTo>
                  <a:lnTo>
                    <a:pt x="789432" y="153924"/>
                  </a:lnTo>
                  <a:lnTo>
                    <a:pt x="789432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591055" y="1609344"/>
              <a:ext cx="36830" cy="1594485"/>
            </a:xfrm>
            <a:custGeom>
              <a:avLst/>
              <a:gdLst/>
              <a:ahLst/>
              <a:cxnLst/>
              <a:rect l="l" t="t" r="r" b="b"/>
              <a:pathLst>
                <a:path w="36830" h="1594485">
                  <a:moveTo>
                    <a:pt x="36575" y="1594103"/>
                  </a:moveTo>
                  <a:lnTo>
                    <a:pt x="36575" y="0"/>
                  </a:lnTo>
                </a:path>
                <a:path w="36830" h="1594485">
                  <a:moveTo>
                    <a:pt x="0" y="1435607"/>
                  </a:moveTo>
                  <a:lnTo>
                    <a:pt x="36575" y="1435607"/>
                  </a:lnTo>
                </a:path>
                <a:path w="36830" h="1594485">
                  <a:moveTo>
                    <a:pt x="0" y="1275588"/>
                  </a:moveTo>
                  <a:lnTo>
                    <a:pt x="36575" y="1275588"/>
                  </a:lnTo>
                </a:path>
                <a:path w="36830" h="1594485">
                  <a:moveTo>
                    <a:pt x="0" y="1117091"/>
                  </a:moveTo>
                  <a:lnTo>
                    <a:pt x="36575" y="1117091"/>
                  </a:lnTo>
                </a:path>
                <a:path w="36830" h="1594485">
                  <a:moveTo>
                    <a:pt x="0" y="957071"/>
                  </a:moveTo>
                  <a:lnTo>
                    <a:pt x="36575" y="957071"/>
                  </a:lnTo>
                </a:path>
                <a:path w="36830" h="1594485">
                  <a:moveTo>
                    <a:pt x="0" y="797051"/>
                  </a:moveTo>
                  <a:lnTo>
                    <a:pt x="36575" y="797051"/>
                  </a:lnTo>
                </a:path>
                <a:path w="36830" h="1594485">
                  <a:moveTo>
                    <a:pt x="0" y="638555"/>
                  </a:moveTo>
                  <a:lnTo>
                    <a:pt x="36575" y="638555"/>
                  </a:lnTo>
                </a:path>
                <a:path w="36830" h="1594485">
                  <a:moveTo>
                    <a:pt x="0" y="478535"/>
                  </a:moveTo>
                  <a:lnTo>
                    <a:pt x="36575" y="478535"/>
                  </a:lnTo>
                </a:path>
                <a:path w="36830" h="1594485">
                  <a:moveTo>
                    <a:pt x="0" y="318515"/>
                  </a:moveTo>
                  <a:lnTo>
                    <a:pt x="36575" y="318515"/>
                  </a:lnTo>
                </a:path>
                <a:path w="36830" h="1594485">
                  <a:moveTo>
                    <a:pt x="0" y="160019"/>
                  </a:moveTo>
                  <a:lnTo>
                    <a:pt x="36575" y="160019"/>
                  </a:lnTo>
                </a:path>
                <a:path w="36830" h="1594485">
                  <a:moveTo>
                    <a:pt x="0" y="0"/>
                  </a:moveTo>
                  <a:lnTo>
                    <a:pt x="36575" y="0"/>
                  </a:lnTo>
                </a:path>
                <a:path w="36830" h="1594485">
                  <a:moveTo>
                    <a:pt x="0" y="1594103"/>
                  </a:moveTo>
                  <a:lnTo>
                    <a:pt x="36575" y="1594103"/>
                  </a:lnTo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628393" y="3204210"/>
              <a:ext cx="2606040" cy="0"/>
            </a:xfrm>
            <a:custGeom>
              <a:avLst/>
              <a:gdLst/>
              <a:ahLst/>
              <a:cxnLst/>
              <a:rect l="l" t="t" r="r" b="b"/>
              <a:pathLst>
                <a:path w="2606040">
                  <a:moveTo>
                    <a:pt x="0" y="0"/>
                  </a:moveTo>
                  <a:lnTo>
                    <a:pt x="2606040" y="0"/>
                  </a:lnTo>
                </a:path>
              </a:pathLst>
            </a:custGeom>
            <a:ln w="190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50163" y="3203448"/>
              <a:ext cx="3683635" cy="358140"/>
            </a:xfrm>
            <a:custGeom>
              <a:avLst/>
              <a:gdLst/>
              <a:ahLst/>
              <a:cxnLst/>
              <a:rect l="l" t="t" r="r" b="b"/>
              <a:pathLst>
                <a:path w="3683635" h="358139">
                  <a:moveTo>
                    <a:pt x="1077468" y="0"/>
                  </a:moveTo>
                  <a:lnTo>
                    <a:pt x="3683508" y="0"/>
                  </a:lnTo>
                </a:path>
                <a:path w="3683635" h="358139">
                  <a:moveTo>
                    <a:pt x="3683508" y="0"/>
                  </a:moveTo>
                  <a:lnTo>
                    <a:pt x="3683508" y="176784"/>
                  </a:lnTo>
                </a:path>
                <a:path w="3683635" h="358139">
                  <a:moveTo>
                    <a:pt x="1077468" y="0"/>
                  </a:moveTo>
                  <a:lnTo>
                    <a:pt x="1077468" y="176784"/>
                  </a:lnTo>
                </a:path>
                <a:path w="3683635" h="358139">
                  <a:moveTo>
                    <a:pt x="0" y="176784"/>
                  </a:moveTo>
                  <a:lnTo>
                    <a:pt x="3683508" y="176784"/>
                  </a:lnTo>
                </a:path>
                <a:path w="3683635" h="358139">
                  <a:moveTo>
                    <a:pt x="3683508" y="176784"/>
                  </a:moveTo>
                  <a:lnTo>
                    <a:pt x="3683508" y="358139"/>
                  </a:lnTo>
                </a:path>
                <a:path w="3683635" h="358139">
                  <a:moveTo>
                    <a:pt x="3683508" y="176784"/>
                  </a:moveTo>
                  <a:lnTo>
                    <a:pt x="3683508" y="358139"/>
                  </a:lnTo>
                </a:path>
                <a:path w="3683635" h="358139">
                  <a:moveTo>
                    <a:pt x="1077468" y="176784"/>
                  </a:moveTo>
                  <a:lnTo>
                    <a:pt x="1077468" y="358139"/>
                  </a:lnTo>
                </a:path>
                <a:path w="3683635" h="358139">
                  <a:moveTo>
                    <a:pt x="1077468" y="176784"/>
                  </a:moveTo>
                  <a:lnTo>
                    <a:pt x="1077468" y="358139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1311" y="3436620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4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62484" y="62484"/>
                  </a:lnTo>
                  <a:lnTo>
                    <a:pt x="62484" y="0"/>
                  </a:lnTo>
                  <a:close/>
                </a:path>
              </a:pathLst>
            </a:custGeom>
            <a:solidFill>
              <a:srgbClr val="DF1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668527" y="3373577"/>
            <a:ext cx="9391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Under</a:t>
            </a:r>
            <a:r>
              <a:rPr sz="9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Construction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550163" y="3203448"/>
          <a:ext cx="3321684" cy="7238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0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784">
                <a:tc rowSpan="4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CF3FA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spc="-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Government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36385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spc="-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Residential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6"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F3F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33"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F3F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26"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ECF3F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465"/>
                        </a:lnSpc>
                      </a:pPr>
                      <a:r>
                        <a:rPr sz="9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364490" algn="ctr">
                        <a:lnSpc>
                          <a:spcPts val="465"/>
                        </a:lnSpc>
                      </a:pPr>
                      <a:r>
                        <a:rPr sz="900" spc="-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900" spc="-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Empty</a:t>
                      </a:r>
                      <a:r>
                        <a:rPr sz="900" spc="-3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Plot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9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36449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900" spc="-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spc="-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Constructed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900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36449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900" spc="-5" dirty="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157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2" name="object 82"/>
          <p:cNvGrpSpPr/>
          <p:nvPr/>
        </p:nvGrpSpPr>
        <p:grpSpPr>
          <a:xfrm>
            <a:off x="545401" y="3556825"/>
            <a:ext cx="3693160" cy="375285"/>
            <a:chOff x="545401" y="3556825"/>
            <a:chExt cx="3693160" cy="375285"/>
          </a:xfrm>
        </p:grpSpPr>
        <p:sp>
          <p:nvSpPr>
            <p:cNvPr id="83" name="object 83"/>
            <p:cNvSpPr/>
            <p:nvPr/>
          </p:nvSpPr>
          <p:spPr>
            <a:xfrm>
              <a:off x="550163" y="3561588"/>
              <a:ext cx="3683635" cy="365760"/>
            </a:xfrm>
            <a:custGeom>
              <a:avLst/>
              <a:gdLst/>
              <a:ahLst/>
              <a:cxnLst/>
              <a:rect l="l" t="t" r="r" b="b"/>
              <a:pathLst>
                <a:path w="3683635" h="365760">
                  <a:moveTo>
                    <a:pt x="0" y="0"/>
                  </a:moveTo>
                  <a:lnTo>
                    <a:pt x="3683508" y="0"/>
                  </a:lnTo>
                </a:path>
                <a:path w="3683635" h="365760">
                  <a:moveTo>
                    <a:pt x="3683508" y="0"/>
                  </a:moveTo>
                  <a:lnTo>
                    <a:pt x="3683508" y="182880"/>
                  </a:lnTo>
                </a:path>
                <a:path w="3683635" h="365760">
                  <a:moveTo>
                    <a:pt x="3683508" y="0"/>
                  </a:moveTo>
                  <a:lnTo>
                    <a:pt x="3683508" y="182880"/>
                  </a:lnTo>
                </a:path>
                <a:path w="3683635" h="365760">
                  <a:moveTo>
                    <a:pt x="1077468" y="0"/>
                  </a:moveTo>
                  <a:lnTo>
                    <a:pt x="1077468" y="182880"/>
                  </a:lnTo>
                </a:path>
                <a:path w="3683635" h="365760">
                  <a:moveTo>
                    <a:pt x="1077468" y="0"/>
                  </a:moveTo>
                  <a:lnTo>
                    <a:pt x="1077468" y="182880"/>
                  </a:lnTo>
                </a:path>
                <a:path w="3683635" h="365760">
                  <a:moveTo>
                    <a:pt x="0" y="182880"/>
                  </a:moveTo>
                  <a:lnTo>
                    <a:pt x="3683508" y="182880"/>
                  </a:lnTo>
                </a:path>
                <a:path w="3683635" h="365760">
                  <a:moveTo>
                    <a:pt x="0" y="365760"/>
                  </a:moveTo>
                  <a:lnTo>
                    <a:pt x="3683508" y="365760"/>
                  </a:lnTo>
                </a:path>
                <a:path w="3683635" h="365760">
                  <a:moveTo>
                    <a:pt x="3683508" y="182880"/>
                  </a:moveTo>
                  <a:lnTo>
                    <a:pt x="3683508" y="365760"/>
                  </a:lnTo>
                </a:path>
                <a:path w="3683635" h="365760">
                  <a:moveTo>
                    <a:pt x="3683508" y="182880"/>
                  </a:moveTo>
                  <a:lnTo>
                    <a:pt x="3683508" y="36576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91311" y="3619500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4" y="0"/>
                  </a:moveTo>
                  <a:lnTo>
                    <a:pt x="0" y="0"/>
                  </a:lnTo>
                  <a:lnTo>
                    <a:pt x="0" y="62483"/>
                  </a:lnTo>
                  <a:lnTo>
                    <a:pt x="62484" y="62483"/>
                  </a:lnTo>
                  <a:lnTo>
                    <a:pt x="62484" y="0"/>
                  </a:lnTo>
                  <a:close/>
                </a:path>
              </a:pathLst>
            </a:custGeom>
            <a:solidFill>
              <a:srgbClr val="DF7B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91311" y="3619500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0" y="62483"/>
                  </a:moveTo>
                  <a:lnTo>
                    <a:pt x="62484" y="62483"/>
                  </a:lnTo>
                  <a:lnTo>
                    <a:pt x="62484" y="0"/>
                  </a:lnTo>
                  <a:lnTo>
                    <a:pt x="0" y="0"/>
                  </a:lnTo>
                  <a:lnTo>
                    <a:pt x="0" y="6248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627631" y="3744468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879"/>
                  </a:lnTo>
                </a:path>
                <a:path h="182879">
                  <a:moveTo>
                    <a:pt x="0" y="0"/>
                  </a:moveTo>
                  <a:lnTo>
                    <a:pt x="0" y="182879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91311" y="3800856"/>
              <a:ext cx="62865" cy="64135"/>
            </a:xfrm>
            <a:custGeom>
              <a:avLst/>
              <a:gdLst/>
              <a:ahLst/>
              <a:cxnLst/>
              <a:rect l="l" t="t" r="r" b="b"/>
              <a:pathLst>
                <a:path w="62865" h="64135">
                  <a:moveTo>
                    <a:pt x="62484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62484" y="64008"/>
                  </a:lnTo>
                  <a:lnTo>
                    <a:pt x="62484" y="0"/>
                  </a:lnTo>
                  <a:close/>
                </a:path>
              </a:pathLst>
            </a:custGeom>
            <a:solidFill>
              <a:srgbClr val="8277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91311" y="3800856"/>
              <a:ext cx="62865" cy="64135"/>
            </a:xfrm>
            <a:custGeom>
              <a:avLst/>
              <a:gdLst/>
              <a:ahLst/>
              <a:cxnLst/>
              <a:rect l="l" t="t" r="r" b="b"/>
              <a:pathLst>
                <a:path w="62865" h="64135">
                  <a:moveTo>
                    <a:pt x="0" y="64008"/>
                  </a:moveTo>
                  <a:lnTo>
                    <a:pt x="62484" y="64008"/>
                  </a:lnTo>
                  <a:lnTo>
                    <a:pt x="62484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2238248" y="2899028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483609" y="2569590"/>
            <a:ext cx="1993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157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214752" y="2178558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512565" y="180149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290952" y="1625346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512565" y="1648205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311910" y="2130806"/>
            <a:ext cx="223520" cy="114236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60%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50%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40%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30%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20%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10%</a:t>
            </a:r>
            <a:endParaRPr sz="9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17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311910" y="1652269"/>
            <a:ext cx="223520" cy="50419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90%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80%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70%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253744" y="1514983"/>
            <a:ext cx="2813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404040"/>
                </a:solidFill>
                <a:latin typeface="Calibri"/>
                <a:cs typeface="Calibri"/>
              </a:rPr>
              <a:t>100%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38250" y="2063900"/>
            <a:ext cx="139700" cy="85216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spc="-5" dirty="0">
                <a:solidFill>
                  <a:srgbClr val="404040"/>
                </a:solidFill>
                <a:latin typeface="Calibri"/>
                <a:cs typeface="Calibri"/>
              </a:rPr>
              <a:t>Building</a:t>
            </a:r>
            <a:r>
              <a:rPr sz="900" b="1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404040"/>
                </a:solidFill>
                <a:latin typeface="Calibri"/>
                <a:cs typeface="Calibri"/>
              </a:rPr>
              <a:t>Stat</a:t>
            </a:r>
            <a:r>
              <a:rPr sz="9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900" b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04040"/>
                </a:solidFill>
                <a:latin typeface="Calibri"/>
                <a:cs typeface="Calibri"/>
              </a:rPr>
              <a:t>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340355" y="4059173"/>
            <a:ext cx="6673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404040"/>
                </a:solidFill>
                <a:latin typeface="Calibri"/>
                <a:cs typeface="Calibri"/>
              </a:rPr>
              <a:t>Plo</a:t>
            </a:r>
            <a:r>
              <a:rPr sz="900" b="1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900" b="1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04040"/>
                </a:solidFill>
                <a:latin typeface="Calibri"/>
                <a:cs typeface="Calibri"/>
              </a:rPr>
              <a:t>Cate</a:t>
            </a:r>
            <a:r>
              <a:rPr sz="900" b="1" spc="5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sz="900" b="1" spc="-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900" b="1" dirty="0">
                <a:solidFill>
                  <a:srgbClr val="404040"/>
                </a:solidFill>
                <a:latin typeface="Calibri"/>
                <a:cs typeface="Calibri"/>
              </a:rPr>
              <a:t>ry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776476" y="1159890"/>
            <a:ext cx="2105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404040"/>
                </a:solidFill>
                <a:latin typeface="Calibri"/>
                <a:cs typeface="Calibri"/>
              </a:rPr>
              <a:t>AC</a:t>
            </a:r>
            <a:r>
              <a:rPr sz="18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8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Block</a:t>
            </a:r>
            <a:r>
              <a:rPr sz="18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sz="1800" b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404040"/>
                </a:solidFill>
                <a:latin typeface="Calibri"/>
                <a:cs typeface="Calibri"/>
              </a:rPr>
              <a:t>Details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335279" y="1075944"/>
            <a:ext cx="4038600" cy="3168650"/>
          </a:xfrm>
          <a:custGeom>
            <a:avLst/>
            <a:gdLst/>
            <a:ahLst/>
            <a:cxnLst/>
            <a:rect l="l" t="t" r="r" b="b"/>
            <a:pathLst>
              <a:path w="4038600" h="3168650">
                <a:moveTo>
                  <a:pt x="0" y="3168395"/>
                </a:moveTo>
                <a:lnTo>
                  <a:pt x="4038600" y="3168395"/>
                </a:lnTo>
                <a:lnTo>
                  <a:pt x="4038600" y="0"/>
                </a:lnTo>
                <a:lnTo>
                  <a:pt x="0" y="0"/>
                </a:lnTo>
                <a:lnTo>
                  <a:pt x="0" y="3168395"/>
                </a:lnTo>
                <a:close/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3906139" y="5108575"/>
            <a:ext cx="437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Fig.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566150" y="6220459"/>
            <a:ext cx="437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Fig.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03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8541257" y="4040504"/>
            <a:ext cx="437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Fig.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906139" y="6220459"/>
            <a:ext cx="437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Fig.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03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906139" y="4040504"/>
            <a:ext cx="437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Fig.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24231" y="5495163"/>
            <a:ext cx="3393440" cy="1007110"/>
            <a:chOff x="324231" y="5495163"/>
            <a:chExt cx="3393440" cy="1007110"/>
          </a:xfrm>
        </p:grpSpPr>
        <p:pic>
          <p:nvPicPr>
            <p:cNvPr id="108" name="object 10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3756" y="5504688"/>
              <a:ext cx="3374136" cy="987552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328993" y="5499925"/>
              <a:ext cx="3383915" cy="997585"/>
            </a:xfrm>
            <a:custGeom>
              <a:avLst/>
              <a:gdLst/>
              <a:ahLst/>
              <a:cxnLst/>
              <a:rect l="l" t="t" r="r" b="b"/>
              <a:pathLst>
                <a:path w="3383915" h="997585">
                  <a:moveTo>
                    <a:pt x="0" y="997077"/>
                  </a:moveTo>
                  <a:lnTo>
                    <a:pt x="3383661" y="997077"/>
                  </a:lnTo>
                  <a:lnTo>
                    <a:pt x="3383661" y="0"/>
                  </a:lnTo>
                  <a:lnTo>
                    <a:pt x="0" y="0"/>
                  </a:lnTo>
                  <a:lnTo>
                    <a:pt x="0" y="9970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328802" y="4486211"/>
            <a:ext cx="3393440" cy="958215"/>
            <a:chOff x="328802" y="4486211"/>
            <a:chExt cx="3393440" cy="958215"/>
          </a:xfrm>
        </p:grpSpPr>
        <p:pic>
          <p:nvPicPr>
            <p:cNvPr id="111" name="object 11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8327" y="4495799"/>
              <a:ext cx="3374136" cy="938784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333565" y="4490973"/>
              <a:ext cx="3383915" cy="948690"/>
            </a:xfrm>
            <a:custGeom>
              <a:avLst/>
              <a:gdLst/>
              <a:ahLst/>
              <a:cxnLst/>
              <a:rect l="l" t="t" r="r" b="b"/>
              <a:pathLst>
                <a:path w="3383915" h="948689">
                  <a:moveTo>
                    <a:pt x="0" y="948309"/>
                  </a:moveTo>
                  <a:lnTo>
                    <a:pt x="3383661" y="948309"/>
                  </a:lnTo>
                  <a:lnTo>
                    <a:pt x="3383661" y="0"/>
                  </a:lnTo>
                  <a:lnTo>
                    <a:pt x="0" y="0"/>
                  </a:lnTo>
                  <a:lnTo>
                    <a:pt x="0" y="94830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3" name="object 11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15" name="object 1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6932" y="107391"/>
            <a:ext cx="387413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29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114" dirty="0">
                <a:solidFill>
                  <a:srgbClr val="FFFFFF"/>
                </a:solidFill>
                <a:latin typeface="Arial"/>
                <a:cs typeface="Arial"/>
              </a:rPr>
              <a:t>BUI</a:t>
            </a:r>
            <a:r>
              <a:rPr sz="2400" b="1" spc="-39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3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19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400" b="1" spc="-16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2287" y="1209294"/>
            <a:ext cx="8494395" cy="275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53490" algn="r">
              <a:lnSpc>
                <a:spcPts val="755"/>
              </a:lnSpc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Calibri"/>
              <a:cs typeface="Calibri"/>
            </a:endParaRPr>
          </a:p>
          <a:p>
            <a:pPr marL="478790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53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B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50">
              <a:latin typeface="Calibri"/>
              <a:cs typeface="Calibri"/>
            </a:endParaRPr>
          </a:p>
          <a:p>
            <a:pPr>
              <a:lnSpc>
                <a:spcPts val="30"/>
              </a:lnSpc>
              <a:tabLst>
                <a:tab pos="466725" algn="l"/>
              </a:tabLst>
            </a:pPr>
            <a:r>
              <a:rPr sz="800" spc="-5" dirty="0">
                <a:latin typeface="Calibri"/>
                <a:cs typeface="Calibri"/>
              </a:rPr>
              <a:t>a	</a:t>
            </a:r>
            <a:r>
              <a:rPr sz="1200" spc="-15" baseline="3472" dirty="0">
                <a:latin typeface="Calibri"/>
                <a:cs typeface="Calibri"/>
              </a:rPr>
              <a:t>WTP</a:t>
            </a:r>
            <a:endParaRPr sz="1200" baseline="3472">
              <a:latin typeface="Calibri"/>
              <a:cs typeface="Calibri"/>
            </a:endParaRPr>
          </a:p>
          <a:p>
            <a:pPr>
              <a:lnSpc>
                <a:spcPts val="560"/>
              </a:lnSpc>
            </a:pPr>
            <a:r>
              <a:rPr sz="800" spc="-5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70"/>
              </a:lnSpc>
              <a:spcBef>
                <a:spcPts val="110"/>
              </a:spcBef>
            </a:pPr>
            <a:r>
              <a:rPr sz="800" spc="-5" dirty="0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  <a:p>
            <a:pPr marR="8385809">
              <a:lnSpc>
                <a:spcPct val="19900"/>
              </a:lnSpc>
              <a:spcBef>
                <a:spcPts val="480"/>
              </a:spcBef>
            </a:pPr>
            <a:r>
              <a:rPr sz="800" spc="-5" dirty="0">
                <a:latin typeface="Calibri"/>
                <a:cs typeface="Calibri"/>
              </a:rPr>
              <a:t>a </a:t>
            </a:r>
            <a:r>
              <a:rPr sz="800" spc="6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55"/>
              </a:lnSpc>
            </a:pPr>
            <a:r>
              <a:rPr sz="800" spc="-5" dirty="0">
                <a:latin typeface="Calibri"/>
                <a:cs typeface="Calibri"/>
              </a:rPr>
              <a:t>Ra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648700" cy="942975"/>
            <a:chOff x="408431" y="3109341"/>
            <a:chExt cx="8648700" cy="942975"/>
          </a:xfrm>
        </p:grpSpPr>
        <p:sp>
          <p:nvSpPr>
            <p:cNvPr id="9" name="object 9"/>
            <p:cNvSpPr/>
            <p:nvPr/>
          </p:nvSpPr>
          <p:spPr>
            <a:xfrm>
              <a:off x="847344" y="3549396"/>
              <a:ext cx="426720" cy="213360"/>
            </a:xfrm>
            <a:custGeom>
              <a:avLst/>
              <a:gdLst/>
              <a:ahLst/>
              <a:cxnLst/>
              <a:rect l="l" t="t" r="r" b="b"/>
              <a:pathLst>
                <a:path w="426719" h="213360">
                  <a:moveTo>
                    <a:pt x="426719" y="0"/>
                  </a:moveTo>
                  <a:lnTo>
                    <a:pt x="0" y="0"/>
                  </a:lnTo>
                  <a:lnTo>
                    <a:pt x="0" y="213359"/>
                  </a:lnTo>
                  <a:lnTo>
                    <a:pt x="426719" y="213359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2208" y="3109341"/>
              <a:ext cx="534924" cy="5862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30708" y="1046988"/>
            <a:ext cx="8726805" cy="5401310"/>
            <a:chOff x="330708" y="1046988"/>
            <a:chExt cx="8726805" cy="540131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42148" y="5521452"/>
              <a:ext cx="955548" cy="83972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3" name="object 23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756" y="0"/>
            <a:ext cx="9572244" cy="6443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AMENITIES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5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-160" dirty="0">
                <a:solidFill>
                  <a:srgbClr val="FFFFFF"/>
                </a:solidFill>
                <a:latin typeface="Arial"/>
                <a:cs typeface="Arial"/>
              </a:rPr>
              <a:t>OI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755"/>
              </a:lnSpc>
            </a:pPr>
            <a:r>
              <a:rPr spc="-10" dirty="0"/>
              <a:t>A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Block</a:t>
            </a:r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spc="-10" dirty="0"/>
              <a:t>WTP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spc="-5" dirty="0"/>
              <a:t>t</a:t>
            </a:r>
          </a:p>
          <a:p>
            <a:pPr>
              <a:lnSpc>
                <a:spcPts val="535"/>
              </a:lnSpc>
            </a:pPr>
            <a:r>
              <a:rPr spc="-5" dirty="0"/>
              <a:t>a</a:t>
            </a:r>
          </a:p>
          <a:p>
            <a:pPr>
              <a:lnSpc>
                <a:spcPts val="540"/>
              </a:lnSpc>
            </a:pPr>
            <a:r>
              <a:rPr spc="-5" dirty="0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spc="-5" dirty="0"/>
              <a:t>a </a:t>
            </a:r>
            <a:r>
              <a:rPr spc="60" dirty="0"/>
              <a:t> </a:t>
            </a:r>
            <a:r>
              <a:rPr spc="-5" dirty="0"/>
              <a:t>j</a:t>
            </a:r>
          </a:p>
          <a:p>
            <a:pPr>
              <a:lnSpc>
                <a:spcPts val="655"/>
              </a:lnSpc>
            </a:pPr>
            <a:r>
              <a:rPr spc="-5" dirty="0"/>
              <a:t>Ra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8431" y="306324"/>
            <a:ext cx="9382125" cy="3746500"/>
            <a:chOff x="408431" y="306324"/>
            <a:chExt cx="9382125" cy="37465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0031" y="306324"/>
              <a:ext cx="390144" cy="3474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32231" y="150495"/>
            <a:ext cx="9467088" cy="6297548"/>
            <a:chOff x="332231" y="150495"/>
            <a:chExt cx="9467088" cy="6297548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231" y="1046987"/>
              <a:ext cx="8726424" cy="54010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9051" y="6085331"/>
              <a:ext cx="620268" cy="2560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98103" y="150495"/>
              <a:ext cx="990853" cy="8458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2231" y="0"/>
            <a:ext cx="9573768" cy="6448044"/>
            <a:chOff x="332231" y="0"/>
            <a:chExt cx="9573768" cy="644804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046988"/>
              <a:ext cx="8726424" cy="54010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79" y="0"/>
              <a:ext cx="9570720" cy="644347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34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254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400" b="1" spc="-195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90" dirty="0">
                <a:solidFill>
                  <a:srgbClr val="FFFFFF"/>
                </a:solidFill>
                <a:latin typeface="Arial"/>
                <a:cs typeface="Arial"/>
              </a:rPr>
              <a:t>FE</a:t>
            </a:r>
            <a:r>
              <a:rPr sz="2400" b="1" spc="-39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TURES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50495"/>
            <a:ext cx="9342120" cy="6293485"/>
            <a:chOff x="457200" y="150495"/>
            <a:chExt cx="9342120" cy="629348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0031" y="306324"/>
              <a:ext cx="390144" cy="3474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26223" y="5356860"/>
              <a:ext cx="1932431" cy="10866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9052" y="6085331"/>
              <a:ext cx="620268" cy="2560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98104" y="150495"/>
              <a:ext cx="990853" cy="845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7200" y="3619499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3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CTIONABL</a:t>
            </a:r>
            <a:r>
              <a:rPr sz="2400" b="1" spc="-2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5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OIN</a:t>
            </a:r>
            <a:r>
              <a:rPr sz="2400" b="1" spc="-1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755"/>
              </a:lnSpc>
            </a:pPr>
            <a:r>
              <a:rPr spc="-10" dirty="0"/>
              <a:t>A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Block</a:t>
            </a:r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spc="-10" dirty="0"/>
              <a:t>WTP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spc="-5" dirty="0"/>
              <a:t>t</a:t>
            </a:r>
          </a:p>
          <a:p>
            <a:pPr>
              <a:lnSpc>
                <a:spcPts val="535"/>
              </a:lnSpc>
            </a:pPr>
            <a:r>
              <a:rPr spc="-5" dirty="0"/>
              <a:t>a</a:t>
            </a:r>
          </a:p>
          <a:p>
            <a:pPr>
              <a:lnSpc>
                <a:spcPts val="540"/>
              </a:lnSpc>
            </a:pPr>
            <a:r>
              <a:rPr spc="-5" dirty="0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spc="-5" dirty="0"/>
              <a:t>a </a:t>
            </a:r>
            <a:r>
              <a:rPr spc="60" dirty="0"/>
              <a:t> </a:t>
            </a:r>
            <a:r>
              <a:rPr spc="-5" dirty="0"/>
              <a:t>j</a:t>
            </a:r>
          </a:p>
          <a:p>
            <a:pPr>
              <a:lnSpc>
                <a:spcPts val="655"/>
              </a:lnSpc>
            </a:pPr>
            <a:r>
              <a:rPr spc="-5" dirty="0"/>
              <a:t>Ra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589010" cy="942975"/>
            <a:chOff x="408431" y="3109341"/>
            <a:chExt cx="8589010" cy="9429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6848" y="0"/>
            <a:ext cx="3691254" cy="96393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065" marR="5080" algn="ctr">
              <a:lnSpc>
                <a:spcPct val="90000"/>
              </a:lnSpc>
              <a:spcBef>
                <a:spcPts val="360"/>
              </a:spcBef>
            </a:pPr>
            <a:r>
              <a:rPr sz="2200" b="1" spc="-3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b="1" spc="-2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200" b="1" spc="-2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200" b="1" spc="-155" dirty="0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sz="22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215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2200" b="1" spc="-20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200" b="1" spc="-25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6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2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5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2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2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200" b="1" spc="-2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200" b="1" spc="-26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200" b="1" spc="-12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2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90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200" b="1" spc="-27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00" b="1" spc="-105" dirty="0">
                <a:solidFill>
                  <a:srgbClr val="FFFFFF"/>
                </a:solidFill>
                <a:latin typeface="Arial"/>
                <a:cs typeface="Arial"/>
              </a:rPr>
              <a:t>C’  </a:t>
            </a:r>
            <a:r>
              <a:rPr sz="2200" b="1" spc="-250" dirty="0">
                <a:solidFill>
                  <a:srgbClr val="FFFFFF"/>
                </a:solidFill>
                <a:latin typeface="Arial"/>
                <a:cs typeface="Arial"/>
              </a:rPr>
              <a:t>OC</a:t>
            </a:r>
            <a:r>
              <a:rPr sz="2200" b="1" spc="-23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200" b="1" spc="-130" dirty="0">
                <a:solidFill>
                  <a:srgbClr val="FFFFFF"/>
                </a:solidFill>
                <a:latin typeface="Arial"/>
                <a:cs typeface="Arial"/>
              </a:rPr>
              <a:t>UPIE</a:t>
            </a:r>
            <a:r>
              <a:rPr sz="2200" b="1" spc="-15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2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70" dirty="0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sz="2200" b="1" spc="-37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200" b="1" spc="-195" dirty="0">
                <a:solidFill>
                  <a:srgbClr val="FFFFFF"/>
                </a:solidFill>
                <a:latin typeface="Arial"/>
                <a:cs typeface="Arial"/>
              </a:rPr>
              <a:t>AXED</a:t>
            </a:r>
            <a:r>
              <a:rPr sz="22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210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2200" b="1" spc="-20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200" b="1" spc="-150" dirty="0">
                <a:solidFill>
                  <a:srgbClr val="FFFFFF"/>
                </a:solidFill>
                <a:latin typeface="Arial"/>
                <a:cs typeface="Arial"/>
              </a:rPr>
              <a:t>A  </a:t>
            </a:r>
            <a:r>
              <a:rPr sz="2200" b="1" spc="-1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800" b="1" spc="-155" dirty="0">
                <a:solidFill>
                  <a:srgbClr val="FFFFFF"/>
                </a:solidFill>
                <a:latin typeface="Arial"/>
                <a:cs typeface="Arial"/>
              </a:rPr>
              <a:t>ENCROACHMENT</a:t>
            </a:r>
            <a:r>
              <a:rPr sz="2200" b="1" spc="-1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4868" y="1209294"/>
            <a:ext cx="7310755" cy="288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755"/>
              </a:lnSpc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>
              <a:lnSpc>
                <a:spcPts val="665"/>
              </a:lnSpc>
            </a:pPr>
            <a:r>
              <a:rPr sz="800" spc="-5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535"/>
              </a:lnSpc>
            </a:pPr>
            <a:r>
              <a:rPr sz="800" spc="-5" dirty="0">
                <a:latin typeface="Calibri"/>
                <a:cs typeface="Calibri"/>
              </a:rPr>
              <a:t>a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540"/>
              </a:lnSpc>
            </a:pPr>
            <a:r>
              <a:rPr sz="800" spc="-5" dirty="0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  <a:p>
            <a:pPr marR="7202805">
              <a:lnSpc>
                <a:spcPct val="19900"/>
              </a:lnSpc>
              <a:spcBef>
                <a:spcPts val="480"/>
              </a:spcBef>
            </a:pPr>
            <a:r>
              <a:rPr sz="800" spc="-5" dirty="0">
                <a:latin typeface="Calibri"/>
                <a:cs typeface="Calibri"/>
              </a:rPr>
              <a:t>a </a:t>
            </a:r>
            <a:r>
              <a:rPr sz="800" spc="5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55"/>
              </a:lnSpc>
            </a:pPr>
            <a:r>
              <a:rPr sz="800" spc="-5" dirty="0">
                <a:latin typeface="Calibri"/>
                <a:cs typeface="Calibri"/>
              </a:rPr>
              <a:t>Ra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2231" y="3109341"/>
            <a:ext cx="8665210" cy="1075690"/>
            <a:chOff x="332231" y="3109341"/>
            <a:chExt cx="8665210" cy="107569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2231" y="3645408"/>
              <a:ext cx="213360" cy="539750"/>
            </a:xfrm>
            <a:custGeom>
              <a:avLst/>
              <a:gdLst/>
              <a:ahLst/>
              <a:cxnLst/>
              <a:rect l="l" t="t" r="r" b="b"/>
              <a:pathLst>
                <a:path w="213359" h="539750">
                  <a:moveTo>
                    <a:pt x="213360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3360" y="539495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2231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204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spc="-3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229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16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2400" b="1" spc="-19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4563" y="1209294"/>
            <a:ext cx="7310755" cy="288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755"/>
              </a:lnSpc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Calibri"/>
              <a:cs typeface="Calibri"/>
            </a:endParaRPr>
          </a:p>
          <a:p>
            <a:pPr marL="556895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>
              <a:lnSpc>
                <a:spcPts val="665"/>
              </a:lnSpc>
            </a:pPr>
            <a:r>
              <a:rPr sz="800" spc="-5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535"/>
              </a:lnSpc>
            </a:pPr>
            <a:r>
              <a:rPr sz="800" spc="-5" dirty="0">
                <a:latin typeface="Calibri"/>
                <a:cs typeface="Calibri"/>
              </a:rPr>
              <a:t>a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540"/>
              </a:lnSpc>
            </a:pPr>
            <a:r>
              <a:rPr sz="800" spc="-5" dirty="0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  <a:p>
            <a:pPr marR="7202170">
              <a:lnSpc>
                <a:spcPct val="19900"/>
              </a:lnSpc>
              <a:spcBef>
                <a:spcPts val="480"/>
              </a:spcBef>
            </a:pPr>
            <a:r>
              <a:rPr sz="800" spc="-5" dirty="0">
                <a:latin typeface="Calibri"/>
                <a:cs typeface="Calibri"/>
              </a:rPr>
              <a:t>a </a:t>
            </a:r>
            <a:r>
              <a:rPr sz="800" spc="6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j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55"/>
              </a:lnSpc>
            </a:pPr>
            <a:r>
              <a:rPr sz="800" spc="-5" dirty="0">
                <a:latin typeface="Calibri"/>
                <a:cs typeface="Calibri"/>
              </a:rPr>
              <a:t>Ra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0708" y="3109341"/>
            <a:ext cx="8666480" cy="1075690"/>
            <a:chOff x="330708" y="3109341"/>
            <a:chExt cx="8666480" cy="107569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0708" y="3645408"/>
              <a:ext cx="213360" cy="539750"/>
            </a:xfrm>
            <a:custGeom>
              <a:avLst/>
              <a:gdLst/>
              <a:ahLst/>
              <a:cxnLst/>
              <a:rect l="l" t="t" r="r" b="b"/>
              <a:pathLst>
                <a:path w="213359" h="539750">
                  <a:moveTo>
                    <a:pt x="213360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3360" y="539495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0708" y="1051560"/>
            <a:ext cx="8726424" cy="53995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OOT</a:t>
            </a: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spc="-3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254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16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2400" b="1" spc="-19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755"/>
              </a:lnSpc>
            </a:pPr>
            <a:r>
              <a:rPr spc="-10" dirty="0"/>
              <a:t>A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Block</a:t>
            </a:r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spc="-10" dirty="0"/>
              <a:t>WTP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spc="-5" dirty="0"/>
              <a:t>t</a:t>
            </a:r>
          </a:p>
          <a:p>
            <a:pPr>
              <a:lnSpc>
                <a:spcPts val="535"/>
              </a:lnSpc>
            </a:pPr>
            <a:r>
              <a:rPr spc="-5" dirty="0"/>
              <a:t>a</a:t>
            </a:r>
          </a:p>
          <a:p>
            <a:pPr>
              <a:lnSpc>
                <a:spcPts val="540"/>
              </a:lnSpc>
            </a:pPr>
            <a:r>
              <a:rPr spc="-5" dirty="0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spc="-5" dirty="0"/>
              <a:t>a </a:t>
            </a:r>
            <a:r>
              <a:rPr spc="60" dirty="0"/>
              <a:t> </a:t>
            </a:r>
            <a:r>
              <a:rPr spc="-5" dirty="0"/>
              <a:t>j</a:t>
            </a:r>
          </a:p>
          <a:p>
            <a:pPr>
              <a:lnSpc>
                <a:spcPts val="655"/>
              </a:lnSpc>
            </a:pPr>
            <a:r>
              <a:rPr spc="-5" dirty="0"/>
              <a:t>Ra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589010" cy="942975"/>
            <a:chOff x="408431" y="3109341"/>
            <a:chExt cx="8589010" cy="9429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9982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98805"/>
            <a:ext cx="402971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marL="1270" algn="ctr">
              <a:lnSpc>
                <a:spcPts val="2735"/>
              </a:lnSpc>
            </a:pPr>
            <a:r>
              <a:rPr sz="2400" b="1" spc="-30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b="1" spc="-34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245" dirty="0">
                <a:solidFill>
                  <a:srgbClr val="FFFFFF"/>
                </a:solidFill>
                <a:latin typeface="Arial"/>
                <a:cs typeface="Arial"/>
              </a:rPr>
              <a:t>CL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9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spc="-26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29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400" b="1" spc="-22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7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-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2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400" b="1" spc="-15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755"/>
              </a:lnSpc>
            </a:pPr>
            <a:r>
              <a:rPr spc="-10" dirty="0"/>
              <a:t>A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Block</a:t>
            </a:r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spc="-10" dirty="0"/>
              <a:t>WTP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spc="-5" dirty="0"/>
              <a:t>t</a:t>
            </a:r>
          </a:p>
          <a:p>
            <a:pPr>
              <a:lnSpc>
                <a:spcPts val="535"/>
              </a:lnSpc>
            </a:pPr>
            <a:r>
              <a:rPr spc="-5" dirty="0"/>
              <a:t>a</a:t>
            </a:r>
          </a:p>
          <a:p>
            <a:pPr>
              <a:lnSpc>
                <a:spcPts val="540"/>
              </a:lnSpc>
            </a:pPr>
            <a:r>
              <a:rPr spc="-5" dirty="0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spc="-5" dirty="0"/>
              <a:t>a </a:t>
            </a:r>
            <a:r>
              <a:rPr spc="60" dirty="0"/>
              <a:t> </a:t>
            </a:r>
            <a:r>
              <a:rPr spc="-5" dirty="0"/>
              <a:t>j</a:t>
            </a:r>
          </a:p>
          <a:p>
            <a:pPr>
              <a:lnSpc>
                <a:spcPts val="655"/>
              </a:lnSpc>
            </a:pPr>
            <a:r>
              <a:rPr spc="-5" dirty="0"/>
              <a:t>Ra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589010" cy="942975"/>
            <a:chOff x="408431" y="3109341"/>
            <a:chExt cx="8589010" cy="9429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2400" b="1" spc="-3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TERBO</a:t>
            </a:r>
            <a:r>
              <a:rPr sz="2400" b="1" spc="-229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400" b="1" spc="-140" dirty="0">
                <a:solidFill>
                  <a:srgbClr val="FFFFFF"/>
                </a:solidFill>
                <a:latin typeface="Arial"/>
                <a:cs typeface="Arial"/>
              </a:rPr>
              <a:t>IES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2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50" dirty="0">
                <a:solidFill>
                  <a:srgbClr val="FFFFFF"/>
                </a:solidFill>
                <a:latin typeface="Arial"/>
                <a:cs typeface="Arial"/>
              </a:rPr>
              <a:t>ILS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30708" y="1046988"/>
            <a:ext cx="8726805" cy="5401310"/>
            <a:chOff x="330708" y="1046988"/>
            <a:chExt cx="8726805" cy="540131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2243" y="3183636"/>
              <a:ext cx="2656331" cy="1685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3411" y="3384804"/>
              <a:ext cx="2267712" cy="12969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58586" y="3379977"/>
              <a:ext cx="2277745" cy="1306830"/>
            </a:xfrm>
            <a:custGeom>
              <a:avLst/>
              <a:gdLst/>
              <a:ahLst/>
              <a:cxnLst/>
              <a:rect l="l" t="t" r="r" b="b"/>
              <a:pathLst>
                <a:path w="2277745" h="1306829">
                  <a:moveTo>
                    <a:pt x="0" y="1306449"/>
                  </a:moveTo>
                  <a:lnTo>
                    <a:pt x="2277237" y="1306449"/>
                  </a:lnTo>
                  <a:lnTo>
                    <a:pt x="2277237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47159" y="2788243"/>
              <a:ext cx="1501775" cy="579755"/>
            </a:xfrm>
            <a:custGeom>
              <a:avLst/>
              <a:gdLst/>
              <a:ahLst/>
              <a:cxnLst/>
              <a:rect l="l" t="t" r="r" b="b"/>
              <a:pathLst>
                <a:path w="1501775" h="579754">
                  <a:moveTo>
                    <a:pt x="766866" y="0"/>
                  </a:moveTo>
                  <a:lnTo>
                    <a:pt x="716083" y="878"/>
                  </a:lnTo>
                  <a:lnTo>
                    <a:pt x="664973" y="4339"/>
                  </a:lnTo>
                  <a:lnTo>
                    <a:pt x="613651" y="10339"/>
                  </a:lnTo>
                  <a:lnTo>
                    <a:pt x="562228" y="18837"/>
                  </a:lnTo>
                  <a:lnTo>
                    <a:pt x="515097" y="28759"/>
                  </a:lnTo>
                  <a:lnTo>
                    <a:pt x="468056" y="40722"/>
                  </a:lnTo>
                  <a:lnTo>
                    <a:pt x="421193" y="54696"/>
                  </a:lnTo>
                  <a:lnTo>
                    <a:pt x="374593" y="70648"/>
                  </a:lnTo>
                  <a:lnTo>
                    <a:pt x="328342" y="88545"/>
                  </a:lnTo>
                  <a:lnTo>
                    <a:pt x="282527" y="108356"/>
                  </a:lnTo>
                  <a:lnTo>
                    <a:pt x="237233" y="130048"/>
                  </a:lnTo>
                  <a:lnTo>
                    <a:pt x="192546" y="153588"/>
                  </a:lnTo>
                  <a:lnTo>
                    <a:pt x="148552" y="178946"/>
                  </a:lnTo>
                  <a:lnTo>
                    <a:pt x="105337" y="206088"/>
                  </a:lnTo>
                  <a:lnTo>
                    <a:pt x="62988" y="234983"/>
                  </a:lnTo>
                  <a:lnTo>
                    <a:pt x="21589" y="265598"/>
                  </a:lnTo>
                  <a:lnTo>
                    <a:pt x="0" y="283632"/>
                  </a:lnTo>
                  <a:lnTo>
                    <a:pt x="65404" y="240833"/>
                  </a:lnTo>
                  <a:lnTo>
                    <a:pt x="112456" y="216098"/>
                  </a:lnTo>
                  <a:lnTo>
                    <a:pt x="160177" y="193414"/>
                  </a:lnTo>
                  <a:lnTo>
                    <a:pt x="208467" y="172816"/>
                  </a:lnTo>
                  <a:lnTo>
                    <a:pt x="257227" y="154341"/>
                  </a:lnTo>
                  <a:lnTo>
                    <a:pt x="306355" y="138025"/>
                  </a:lnTo>
                  <a:lnTo>
                    <a:pt x="355752" y="123906"/>
                  </a:lnTo>
                  <a:lnTo>
                    <a:pt x="405317" y="112019"/>
                  </a:lnTo>
                  <a:lnTo>
                    <a:pt x="454949" y="102400"/>
                  </a:lnTo>
                  <a:lnTo>
                    <a:pt x="504548" y="95087"/>
                  </a:lnTo>
                  <a:lnTo>
                    <a:pt x="554014" y="90115"/>
                  </a:lnTo>
                  <a:lnTo>
                    <a:pt x="603245" y="87522"/>
                  </a:lnTo>
                  <a:lnTo>
                    <a:pt x="652143" y="87343"/>
                  </a:lnTo>
                  <a:lnTo>
                    <a:pt x="700606" y="89615"/>
                  </a:lnTo>
                  <a:lnTo>
                    <a:pt x="748533" y="94375"/>
                  </a:lnTo>
                  <a:lnTo>
                    <a:pt x="795825" y="101658"/>
                  </a:lnTo>
                  <a:lnTo>
                    <a:pt x="842382" y="111502"/>
                  </a:lnTo>
                  <a:lnTo>
                    <a:pt x="888101" y="123942"/>
                  </a:lnTo>
                  <a:lnTo>
                    <a:pt x="932884" y="139016"/>
                  </a:lnTo>
                  <a:lnTo>
                    <a:pt x="976629" y="156759"/>
                  </a:lnTo>
                  <a:lnTo>
                    <a:pt x="1024452" y="179978"/>
                  </a:lnTo>
                  <a:lnTo>
                    <a:pt x="1069378" y="205964"/>
                  </a:lnTo>
                  <a:lnTo>
                    <a:pt x="1111382" y="234586"/>
                  </a:lnTo>
                  <a:lnTo>
                    <a:pt x="1150441" y="265715"/>
                  </a:lnTo>
                  <a:lnTo>
                    <a:pt x="1186529" y="299221"/>
                  </a:lnTo>
                  <a:lnTo>
                    <a:pt x="1219622" y="334975"/>
                  </a:lnTo>
                  <a:lnTo>
                    <a:pt x="1249697" y="372848"/>
                  </a:lnTo>
                  <a:lnTo>
                    <a:pt x="1276727" y="412709"/>
                  </a:lnTo>
                  <a:lnTo>
                    <a:pt x="1300691" y="454430"/>
                  </a:lnTo>
                  <a:lnTo>
                    <a:pt x="1321562" y="497881"/>
                  </a:lnTo>
                  <a:lnTo>
                    <a:pt x="1332991" y="535600"/>
                  </a:lnTo>
                  <a:lnTo>
                    <a:pt x="1299717" y="579669"/>
                  </a:lnTo>
                  <a:lnTo>
                    <a:pt x="1501775" y="554777"/>
                  </a:lnTo>
                  <a:lnTo>
                    <a:pt x="1469389" y="353863"/>
                  </a:lnTo>
                  <a:lnTo>
                    <a:pt x="1438910" y="394376"/>
                  </a:lnTo>
                  <a:lnTo>
                    <a:pt x="1367154" y="272837"/>
                  </a:lnTo>
                  <a:lnTo>
                    <a:pt x="1337595" y="237368"/>
                  </a:lnTo>
                  <a:lnTo>
                    <a:pt x="1305316" y="203861"/>
                  </a:lnTo>
                  <a:lnTo>
                    <a:pt x="1270336" y="172426"/>
                  </a:lnTo>
                  <a:lnTo>
                    <a:pt x="1232672" y="143175"/>
                  </a:lnTo>
                  <a:lnTo>
                    <a:pt x="1192343" y="116219"/>
                  </a:lnTo>
                  <a:lnTo>
                    <a:pt x="1149365" y="91670"/>
                  </a:lnTo>
                  <a:lnTo>
                    <a:pt x="1103756" y="69637"/>
                  </a:lnTo>
                  <a:lnTo>
                    <a:pt x="1058411" y="51276"/>
                  </a:lnTo>
                  <a:lnTo>
                    <a:pt x="1011950" y="35789"/>
                  </a:lnTo>
                  <a:lnTo>
                    <a:pt x="964487" y="23134"/>
                  </a:lnTo>
                  <a:lnTo>
                    <a:pt x="916135" y="13269"/>
                  </a:lnTo>
                  <a:lnTo>
                    <a:pt x="867005" y="6153"/>
                  </a:lnTo>
                  <a:lnTo>
                    <a:pt x="817211" y="1744"/>
                  </a:lnTo>
                  <a:lnTo>
                    <a:pt x="76686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254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2400" b="1" spc="-24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spc="-204" dirty="0">
                <a:solidFill>
                  <a:srgbClr val="FFFFFF"/>
                </a:solidFill>
                <a:latin typeface="Arial"/>
                <a:cs typeface="Arial"/>
              </a:rPr>
              <a:t>EENE</a:t>
            </a:r>
            <a:r>
              <a:rPr sz="2400" b="1" spc="-26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spc="-3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16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2400" b="1" spc="-19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30708" y="1046988"/>
            <a:ext cx="8726805" cy="5481955"/>
            <a:chOff x="330708" y="1046988"/>
            <a:chExt cx="8726805" cy="548195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1175" y="4587252"/>
              <a:ext cx="2656331" cy="1685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2343" y="4788408"/>
              <a:ext cx="2267711" cy="12969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57517" y="4783645"/>
              <a:ext cx="2277745" cy="1306830"/>
            </a:xfrm>
            <a:custGeom>
              <a:avLst/>
              <a:gdLst/>
              <a:ahLst/>
              <a:cxnLst/>
              <a:rect l="l" t="t" r="r" b="b"/>
              <a:pathLst>
                <a:path w="2277745" h="1306829">
                  <a:moveTo>
                    <a:pt x="0" y="1306449"/>
                  </a:moveTo>
                  <a:lnTo>
                    <a:pt x="2277237" y="1306449"/>
                  </a:lnTo>
                  <a:lnTo>
                    <a:pt x="2277237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75577" y="3545009"/>
              <a:ext cx="1424305" cy="1187450"/>
            </a:xfrm>
            <a:custGeom>
              <a:avLst/>
              <a:gdLst/>
              <a:ahLst/>
              <a:cxnLst/>
              <a:rect l="l" t="t" r="r" b="b"/>
              <a:pathLst>
                <a:path w="1424304" h="1187450">
                  <a:moveTo>
                    <a:pt x="237459" y="0"/>
                  </a:moveTo>
                  <a:lnTo>
                    <a:pt x="185666" y="166"/>
                  </a:lnTo>
                  <a:lnTo>
                    <a:pt x="133810" y="2276"/>
                  </a:lnTo>
                  <a:lnTo>
                    <a:pt x="81970" y="6345"/>
                  </a:lnTo>
                  <a:lnTo>
                    <a:pt x="30225" y="12387"/>
                  </a:lnTo>
                  <a:lnTo>
                    <a:pt x="0" y="17721"/>
                  </a:lnTo>
                  <a:lnTo>
                    <a:pt x="85851" y="13149"/>
                  </a:lnTo>
                  <a:lnTo>
                    <a:pt x="136654" y="15500"/>
                  </a:lnTo>
                  <a:lnTo>
                    <a:pt x="187216" y="19704"/>
                  </a:lnTo>
                  <a:lnTo>
                    <a:pt x="237462" y="25745"/>
                  </a:lnTo>
                  <a:lnTo>
                    <a:pt x="287315" y="33610"/>
                  </a:lnTo>
                  <a:lnTo>
                    <a:pt x="336700" y="43284"/>
                  </a:lnTo>
                  <a:lnTo>
                    <a:pt x="385542" y="54751"/>
                  </a:lnTo>
                  <a:lnTo>
                    <a:pt x="433764" y="67997"/>
                  </a:lnTo>
                  <a:lnTo>
                    <a:pt x="481292" y="83008"/>
                  </a:lnTo>
                  <a:lnTo>
                    <a:pt x="528049" y="99769"/>
                  </a:lnTo>
                  <a:lnTo>
                    <a:pt x="573960" y="118265"/>
                  </a:lnTo>
                  <a:lnTo>
                    <a:pt x="618950" y="138482"/>
                  </a:lnTo>
                  <a:lnTo>
                    <a:pt x="662942" y="160404"/>
                  </a:lnTo>
                  <a:lnTo>
                    <a:pt x="705861" y="184018"/>
                  </a:lnTo>
                  <a:lnTo>
                    <a:pt x="747632" y="209308"/>
                  </a:lnTo>
                  <a:lnTo>
                    <a:pt x="788178" y="236260"/>
                  </a:lnTo>
                  <a:lnTo>
                    <a:pt x="827424" y="264859"/>
                  </a:lnTo>
                  <a:lnTo>
                    <a:pt x="865294" y="295090"/>
                  </a:lnTo>
                  <a:lnTo>
                    <a:pt x="901714" y="326940"/>
                  </a:lnTo>
                  <a:lnTo>
                    <a:pt x="936606" y="360392"/>
                  </a:lnTo>
                  <a:lnTo>
                    <a:pt x="969896" y="395433"/>
                  </a:lnTo>
                  <a:lnTo>
                    <a:pt x="1001508" y="432048"/>
                  </a:lnTo>
                  <a:lnTo>
                    <a:pt x="1031367" y="470222"/>
                  </a:lnTo>
                  <a:lnTo>
                    <a:pt x="1061734" y="513499"/>
                  </a:lnTo>
                  <a:lnTo>
                    <a:pt x="1089160" y="557548"/>
                  </a:lnTo>
                  <a:lnTo>
                    <a:pt x="1113668" y="602284"/>
                  </a:lnTo>
                  <a:lnTo>
                    <a:pt x="1135281" y="647622"/>
                  </a:lnTo>
                  <a:lnTo>
                    <a:pt x="1154020" y="693477"/>
                  </a:lnTo>
                  <a:lnTo>
                    <a:pt x="1169908" y="739763"/>
                  </a:lnTo>
                  <a:lnTo>
                    <a:pt x="1182967" y="786396"/>
                  </a:lnTo>
                  <a:lnTo>
                    <a:pt x="1193221" y="833291"/>
                  </a:lnTo>
                  <a:lnTo>
                    <a:pt x="1200691" y="880362"/>
                  </a:lnTo>
                  <a:lnTo>
                    <a:pt x="1205401" y="927525"/>
                  </a:lnTo>
                  <a:lnTo>
                    <a:pt x="1207372" y="974693"/>
                  </a:lnTo>
                  <a:lnTo>
                    <a:pt x="1206627" y="1021783"/>
                  </a:lnTo>
                  <a:lnTo>
                    <a:pt x="1199515" y="1066868"/>
                  </a:lnTo>
                  <a:lnTo>
                    <a:pt x="1144904" y="1091887"/>
                  </a:lnTo>
                  <a:lnTo>
                    <a:pt x="1357629" y="1186883"/>
                  </a:lnTo>
                  <a:lnTo>
                    <a:pt x="1423797" y="963617"/>
                  </a:lnTo>
                  <a:lnTo>
                    <a:pt x="1373886" y="986604"/>
                  </a:lnTo>
                  <a:lnTo>
                    <a:pt x="1362075" y="820488"/>
                  </a:lnTo>
                  <a:lnTo>
                    <a:pt x="1351820" y="773585"/>
                  </a:lnTo>
                  <a:lnTo>
                    <a:pt x="1338758" y="726946"/>
                  </a:lnTo>
                  <a:lnTo>
                    <a:pt x="1322869" y="680655"/>
                  </a:lnTo>
                  <a:lnTo>
                    <a:pt x="1304131" y="634798"/>
                  </a:lnTo>
                  <a:lnTo>
                    <a:pt x="1282523" y="589458"/>
                  </a:lnTo>
                  <a:lnTo>
                    <a:pt x="1258026" y="544721"/>
                  </a:lnTo>
                  <a:lnTo>
                    <a:pt x="1230617" y="500672"/>
                  </a:lnTo>
                  <a:lnTo>
                    <a:pt x="1200277" y="457395"/>
                  </a:lnTo>
                  <a:lnTo>
                    <a:pt x="1169925" y="418657"/>
                  </a:lnTo>
                  <a:lnTo>
                    <a:pt x="1137771" y="381526"/>
                  </a:lnTo>
                  <a:lnTo>
                    <a:pt x="1103894" y="346017"/>
                  </a:lnTo>
                  <a:lnTo>
                    <a:pt x="1068371" y="312146"/>
                  </a:lnTo>
                  <a:lnTo>
                    <a:pt x="1031282" y="279928"/>
                  </a:lnTo>
                  <a:lnTo>
                    <a:pt x="992705" y="249377"/>
                  </a:lnTo>
                  <a:lnTo>
                    <a:pt x="952718" y="220510"/>
                  </a:lnTo>
                  <a:lnTo>
                    <a:pt x="911400" y="193341"/>
                  </a:lnTo>
                  <a:lnTo>
                    <a:pt x="868828" y="167885"/>
                  </a:lnTo>
                  <a:lnTo>
                    <a:pt x="825081" y="144159"/>
                  </a:lnTo>
                  <a:lnTo>
                    <a:pt x="780239" y="122177"/>
                  </a:lnTo>
                  <a:lnTo>
                    <a:pt x="734378" y="101954"/>
                  </a:lnTo>
                  <a:lnTo>
                    <a:pt x="687577" y="83507"/>
                  </a:lnTo>
                  <a:lnTo>
                    <a:pt x="639946" y="66851"/>
                  </a:lnTo>
                  <a:lnTo>
                    <a:pt x="591532" y="52005"/>
                  </a:lnTo>
                  <a:lnTo>
                    <a:pt x="542417" y="38983"/>
                  </a:lnTo>
                  <a:lnTo>
                    <a:pt x="492680" y="27801"/>
                  </a:lnTo>
                  <a:lnTo>
                    <a:pt x="442401" y="18472"/>
                  </a:lnTo>
                  <a:lnTo>
                    <a:pt x="391660" y="11013"/>
                  </a:lnTo>
                  <a:lnTo>
                    <a:pt x="340536" y="5438"/>
                  </a:lnTo>
                  <a:lnTo>
                    <a:pt x="289109" y="1762"/>
                  </a:lnTo>
                  <a:lnTo>
                    <a:pt x="23745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116" y="4843284"/>
              <a:ext cx="2656332" cy="1685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9284" y="5044440"/>
              <a:ext cx="2267712" cy="1296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24521" y="5039677"/>
              <a:ext cx="2277745" cy="1306830"/>
            </a:xfrm>
            <a:custGeom>
              <a:avLst/>
              <a:gdLst/>
              <a:ahLst/>
              <a:cxnLst/>
              <a:rect l="l" t="t" r="r" b="b"/>
              <a:pathLst>
                <a:path w="2277745" h="1306829">
                  <a:moveTo>
                    <a:pt x="0" y="1306449"/>
                  </a:moveTo>
                  <a:lnTo>
                    <a:pt x="2277237" y="1306449"/>
                  </a:lnTo>
                  <a:lnTo>
                    <a:pt x="2277237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5245" y="4350734"/>
              <a:ext cx="902335" cy="665480"/>
            </a:xfrm>
            <a:custGeom>
              <a:avLst/>
              <a:gdLst/>
              <a:ahLst/>
              <a:cxnLst/>
              <a:rect l="l" t="t" r="r" b="b"/>
              <a:pathLst>
                <a:path w="902335" h="665479">
                  <a:moveTo>
                    <a:pt x="217034" y="0"/>
                  </a:moveTo>
                  <a:lnTo>
                    <a:pt x="168211" y="327"/>
                  </a:lnTo>
                  <a:lnTo>
                    <a:pt x="119007" y="3054"/>
                  </a:lnTo>
                  <a:lnTo>
                    <a:pt x="69578" y="8198"/>
                  </a:lnTo>
                  <a:lnTo>
                    <a:pt x="20078" y="15779"/>
                  </a:lnTo>
                  <a:lnTo>
                    <a:pt x="0" y="20097"/>
                  </a:lnTo>
                  <a:lnTo>
                    <a:pt x="56654" y="14128"/>
                  </a:lnTo>
                  <a:lnTo>
                    <a:pt x="108943" y="13869"/>
                  </a:lnTo>
                  <a:lnTo>
                    <a:pt x="160601" y="16344"/>
                  </a:lnTo>
                  <a:lnTo>
                    <a:pt x="211438" y="21529"/>
                  </a:lnTo>
                  <a:lnTo>
                    <a:pt x="261263" y="29402"/>
                  </a:lnTo>
                  <a:lnTo>
                    <a:pt x="309884" y="39939"/>
                  </a:lnTo>
                  <a:lnTo>
                    <a:pt x="357112" y="53116"/>
                  </a:lnTo>
                  <a:lnTo>
                    <a:pt x="402755" y="68912"/>
                  </a:lnTo>
                  <a:lnTo>
                    <a:pt x="446621" y="87304"/>
                  </a:lnTo>
                  <a:lnTo>
                    <a:pt x="488521" y="108267"/>
                  </a:lnTo>
                  <a:lnTo>
                    <a:pt x="528263" y="131779"/>
                  </a:lnTo>
                  <a:lnTo>
                    <a:pt x="565657" y="157817"/>
                  </a:lnTo>
                  <a:lnTo>
                    <a:pt x="600510" y="186358"/>
                  </a:lnTo>
                  <a:lnTo>
                    <a:pt x="632633" y="217378"/>
                  </a:lnTo>
                  <a:lnTo>
                    <a:pt x="661835" y="250856"/>
                  </a:lnTo>
                  <a:lnTo>
                    <a:pt x="692136" y="293408"/>
                  </a:lnTo>
                  <a:lnTo>
                    <a:pt x="716699" y="337508"/>
                  </a:lnTo>
                  <a:lnTo>
                    <a:pt x="735616" y="382901"/>
                  </a:lnTo>
                  <a:lnTo>
                    <a:pt x="748983" y="429331"/>
                  </a:lnTo>
                  <a:lnTo>
                    <a:pt x="756890" y="476544"/>
                  </a:lnTo>
                  <a:lnTo>
                    <a:pt x="759433" y="524283"/>
                  </a:lnTo>
                  <a:lnTo>
                    <a:pt x="756704" y="572293"/>
                  </a:lnTo>
                  <a:lnTo>
                    <a:pt x="750354" y="599344"/>
                  </a:lnTo>
                  <a:lnTo>
                    <a:pt x="713524" y="616362"/>
                  </a:lnTo>
                  <a:lnTo>
                    <a:pt x="849922" y="664876"/>
                  </a:lnTo>
                  <a:lnTo>
                    <a:pt x="901738" y="529621"/>
                  </a:lnTo>
                  <a:lnTo>
                    <a:pt x="868083" y="545115"/>
                  </a:lnTo>
                  <a:lnTo>
                    <a:pt x="866432" y="446817"/>
                  </a:lnTo>
                  <a:lnTo>
                    <a:pt x="857518" y="402930"/>
                  </a:lnTo>
                  <a:lnTo>
                    <a:pt x="843832" y="359798"/>
                  </a:lnTo>
                  <a:lnTo>
                    <a:pt x="825293" y="317630"/>
                  </a:lnTo>
                  <a:lnTo>
                    <a:pt x="801822" y="276633"/>
                  </a:lnTo>
                  <a:lnTo>
                    <a:pt x="773341" y="237013"/>
                  </a:lnTo>
                  <a:lnTo>
                    <a:pt x="742612" y="201924"/>
                  </a:lnTo>
                  <a:lnTo>
                    <a:pt x="708674" y="169542"/>
                  </a:lnTo>
                  <a:lnTo>
                    <a:pt x="671748" y="139896"/>
                  </a:lnTo>
                  <a:lnTo>
                    <a:pt x="632053" y="113013"/>
                  </a:lnTo>
                  <a:lnTo>
                    <a:pt x="589811" y="88923"/>
                  </a:lnTo>
                  <a:lnTo>
                    <a:pt x="545241" y="67652"/>
                  </a:lnTo>
                  <a:lnTo>
                    <a:pt x="498563" y="49231"/>
                  </a:lnTo>
                  <a:lnTo>
                    <a:pt x="449999" y="33686"/>
                  </a:lnTo>
                  <a:lnTo>
                    <a:pt x="405409" y="22301"/>
                  </a:lnTo>
                  <a:lnTo>
                    <a:pt x="359663" y="13222"/>
                  </a:lnTo>
                  <a:lnTo>
                    <a:pt x="312915" y="6466"/>
                  </a:lnTo>
                  <a:lnTo>
                    <a:pt x="265320" y="2052"/>
                  </a:lnTo>
                  <a:lnTo>
                    <a:pt x="21703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8896" y="3572255"/>
              <a:ext cx="2656331" cy="16855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60063" y="3773423"/>
              <a:ext cx="2267712" cy="12969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55237" y="3768598"/>
              <a:ext cx="2277745" cy="1306830"/>
            </a:xfrm>
            <a:custGeom>
              <a:avLst/>
              <a:gdLst/>
              <a:ahLst/>
              <a:cxnLst/>
              <a:rect l="l" t="t" r="r" b="b"/>
              <a:pathLst>
                <a:path w="2277745" h="1306829">
                  <a:moveTo>
                    <a:pt x="0" y="1306449"/>
                  </a:moveTo>
                  <a:lnTo>
                    <a:pt x="2277237" y="1306449"/>
                  </a:lnTo>
                  <a:lnTo>
                    <a:pt x="2277237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16909" y="3343655"/>
              <a:ext cx="760095" cy="391795"/>
            </a:xfrm>
            <a:custGeom>
              <a:avLst/>
              <a:gdLst/>
              <a:ahLst/>
              <a:cxnLst/>
              <a:rect l="l" t="t" r="r" b="b"/>
              <a:pathLst>
                <a:path w="760095" h="391795">
                  <a:moveTo>
                    <a:pt x="355473" y="0"/>
                  </a:moveTo>
                  <a:lnTo>
                    <a:pt x="308801" y="166"/>
                  </a:lnTo>
                  <a:lnTo>
                    <a:pt x="261054" y="3478"/>
                  </a:lnTo>
                  <a:lnTo>
                    <a:pt x="212494" y="9910"/>
                  </a:lnTo>
                  <a:lnTo>
                    <a:pt x="163383" y="19434"/>
                  </a:lnTo>
                  <a:lnTo>
                    <a:pt x="113984" y="32023"/>
                  </a:lnTo>
                  <a:lnTo>
                    <a:pt x="64557" y="47652"/>
                  </a:lnTo>
                  <a:lnTo>
                    <a:pt x="15366" y="66294"/>
                  </a:lnTo>
                  <a:lnTo>
                    <a:pt x="0" y="73152"/>
                  </a:lnTo>
                  <a:lnTo>
                    <a:pt x="44068" y="58293"/>
                  </a:lnTo>
                  <a:lnTo>
                    <a:pt x="96364" y="46119"/>
                  </a:lnTo>
                  <a:lnTo>
                    <a:pt x="148231" y="37404"/>
                  </a:lnTo>
                  <a:lnTo>
                    <a:pt x="199353" y="32186"/>
                  </a:lnTo>
                  <a:lnTo>
                    <a:pt x="249416" y="30501"/>
                  </a:lnTo>
                  <a:lnTo>
                    <a:pt x="298104" y="32390"/>
                  </a:lnTo>
                  <a:lnTo>
                    <a:pt x="345101" y="37890"/>
                  </a:lnTo>
                  <a:lnTo>
                    <a:pt x="390092" y="47040"/>
                  </a:lnTo>
                  <a:lnTo>
                    <a:pt x="432761" y="59878"/>
                  </a:lnTo>
                  <a:lnTo>
                    <a:pt x="472794" y="76442"/>
                  </a:lnTo>
                  <a:lnTo>
                    <a:pt x="509874" y="96771"/>
                  </a:lnTo>
                  <a:lnTo>
                    <a:pt x="543687" y="120904"/>
                  </a:lnTo>
                  <a:lnTo>
                    <a:pt x="581686" y="157552"/>
                  </a:lnTo>
                  <a:lnTo>
                    <a:pt x="611188" y="198382"/>
                  </a:lnTo>
                  <a:lnTo>
                    <a:pt x="632319" y="242820"/>
                  </a:lnTo>
                  <a:lnTo>
                    <a:pt x="645209" y="290295"/>
                  </a:lnTo>
                  <a:lnTo>
                    <a:pt x="649986" y="340233"/>
                  </a:lnTo>
                  <a:lnTo>
                    <a:pt x="647573" y="361442"/>
                  </a:lnTo>
                  <a:lnTo>
                    <a:pt x="620267" y="380746"/>
                  </a:lnTo>
                  <a:lnTo>
                    <a:pt x="732536" y="391287"/>
                  </a:lnTo>
                  <a:lnTo>
                    <a:pt x="759967" y="281940"/>
                  </a:lnTo>
                  <a:lnTo>
                    <a:pt x="734949" y="299720"/>
                  </a:lnTo>
                  <a:lnTo>
                    <a:pt x="724026" y="227457"/>
                  </a:lnTo>
                  <a:lnTo>
                    <a:pt x="709273" y="189341"/>
                  </a:lnTo>
                  <a:lnTo>
                    <a:pt x="688768" y="153511"/>
                  </a:lnTo>
                  <a:lnTo>
                    <a:pt x="662430" y="120300"/>
                  </a:lnTo>
                  <a:lnTo>
                    <a:pt x="630174" y="90043"/>
                  </a:lnTo>
                  <a:lnTo>
                    <a:pt x="592777" y="63714"/>
                  </a:lnTo>
                  <a:lnTo>
                    <a:pt x="551476" y="41975"/>
                  </a:lnTo>
                  <a:lnTo>
                    <a:pt x="506682" y="24780"/>
                  </a:lnTo>
                  <a:lnTo>
                    <a:pt x="458808" y="12083"/>
                  </a:lnTo>
                  <a:lnTo>
                    <a:pt x="408267" y="3838"/>
                  </a:lnTo>
                  <a:lnTo>
                    <a:pt x="3554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39667" y="6085332"/>
            <a:ext cx="579120" cy="213360"/>
          </a:xfrm>
          <a:custGeom>
            <a:avLst/>
            <a:gdLst/>
            <a:ahLst/>
            <a:cxnLst/>
            <a:rect l="l" t="t" r="r" b="b"/>
            <a:pathLst>
              <a:path w="579120" h="213360">
                <a:moveTo>
                  <a:pt x="579120" y="0"/>
                </a:moveTo>
                <a:lnTo>
                  <a:pt x="0" y="0"/>
                </a:lnTo>
                <a:lnTo>
                  <a:pt x="0" y="213360"/>
                </a:lnTo>
                <a:lnTo>
                  <a:pt x="579120" y="213360"/>
                </a:lnTo>
                <a:lnTo>
                  <a:pt x="5791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44315" y="6111951"/>
            <a:ext cx="37020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0" name="object 3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2400" b="1" spc="-3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25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2400" b="1" spc="-2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40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229" dirty="0">
                <a:solidFill>
                  <a:srgbClr val="FFFFFF"/>
                </a:solidFill>
                <a:latin typeface="Arial"/>
                <a:cs typeface="Arial"/>
              </a:rPr>
              <a:t>ANK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30708" y="1046988"/>
            <a:ext cx="8726805" cy="5401310"/>
            <a:chOff x="330708" y="1046988"/>
            <a:chExt cx="8726805" cy="540131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4955" y="2525268"/>
              <a:ext cx="2657855" cy="16855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6123" y="2726436"/>
              <a:ext cx="2269235" cy="12969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21298" y="2721610"/>
              <a:ext cx="2279015" cy="1306830"/>
            </a:xfrm>
            <a:custGeom>
              <a:avLst/>
              <a:gdLst/>
              <a:ahLst/>
              <a:cxnLst/>
              <a:rect l="l" t="t" r="r" b="b"/>
              <a:pathLst>
                <a:path w="2279015" h="1306829">
                  <a:moveTo>
                    <a:pt x="0" y="1306449"/>
                  </a:moveTo>
                  <a:lnTo>
                    <a:pt x="2278761" y="1306449"/>
                  </a:lnTo>
                  <a:lnTo>
                    <a:pt x="2278761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87792" y="1812036"/>
              <a:ext cx="1202690" cy="864235"/>
            </a:xfrm>
            <a:custGeom>
              <a:avLst/>
              <a:gdLst/>
              <a:ahLst/>
              <a:cxnLst/>
              <a:rect l="l" t="t" r="r" b="b"/>
              <a:pathLst>
                <a:path w="1202690" h="864235">
                  <a:moveTo>
                    <a:pt x="0" y="0"/>
                  </a:moveTo>
                  <a:lnTo>
                    <a:pt x="101726" y="12318"/>
                  </a:lnTo>
                  <a:lnTo>
                    <a:pt x="165132" y="23401"/>
                  </a:lnTo>
                  <a:lnTo>
                    <a:pt x="227070" y="35637"/>
                  </a:lnTo>
                  <a:lnTo>
                    <a:pt x="287434" y="48998"/>
                  </a:lnTo>
                  <a:lnTo>
                    <a:pt x="346116" y="63458"/>
                  </a:lnTo>
                  <a:lnTo>
                    <a:pt x="403010" y="78988"/>
                  </a:lnTo>
                  <a:lnTo>
                    <a:pt x="458009" y="95560"/>
                  </a:lnTo>
                  <a:lnTo>
                    <a:pt x="511005" y="113147"/>
                  </a:lnTo>
                  <a:lnTo>
                    <a:pt x="561891" y="131721"/>
                  </a:lnTo>
                  <a:lnTo>
                    <a:pt x="610561" y="151254"/>
                  </a:lnTo>
                  <a:lnTo>
                    <a:pt x="656907" y="171719"/>
                  </a:lnTo>
                  <a:lnTo>
                    <a:pt x="700822" y="193088"/>
                  </a:lnTo>
                  <a:lnTo>
                    <a:pt x="742200" y="215334"/>
                  </a:lnTo>
                  <a:lnTo>
                    <a:pt x="780932" y="238427"/>
                  </a:lnTo>
                  <a:lnTo>
                    <a:pt x="816913" y="262342"/>
                  </a:lnTo>
                  <a:lnTo>
                    <a:pt x="850034" y="287049"/>
                  </a:lnTo>
                  <a:lnTo>
                    <a:pt x="880190" y="312522"/>
                  </a:lnTo>
                  <a:lnTo>
                    <a:pt x="931174" y="365653"/>
                  </a:lnTo>
                  <a:lnTo>
                    <a:pt x="969009" y="421513"/>
                  </a:lnTo>
                  <a:lnTo>
                    <a:pt x="987938" y="464298"/>
                  </a:lnTo>
                  <a:lnTo>
                    <a:pt x="998398" y="506835"/>
                  </a:lnTo>
                  <a:lnTo>
                    <a:pt x="1000625" y="548982"/>
                  </a:lnTo>
                  <a:lnTo>
                    <a:pt x="994854" y="590597"/>
                  </a:lnTo>
                  <a:lnTo>
                    <a:pt x="981320" y="631540"/>
                  </a:lnTo>
                  <a:lnTo>
                    <a:pt x="960258" y="671669"/>
                  </a:lnTo>
                  <a:lnTo>
                    <a:pt x="931904" y="710842"/>
                  </a:lnTo>
                  <a:lnTo>
                    <a:pt x="896492" y="748918"/>
                  </a:lnTo>
                  <a:lnTo>
                    <a:pt x="865631" y="771905"/>
                  </a:lnTo>
                  <a:lnTo>
                    <a:pt x="789939" y="776097"/>
                  </a:lnTo>
                  <a:lnTo>
                    <a:pt x="988949" y="863853"/>
                  </a:lnTo>
                  <a:lnTo>
                    <a:pt x="1177289" y="754888"/>
                  </a:lnTo>
                  <a:lnTo>
                    <a:pt x="1107948" y="758698"/>
                  </a:lnTo>
                  <a:lnTo>
                    <a:pt x="1177162" y="667130"/>
                  </a:lnTo>
                  <a:lnTo>
                    <a:pt x="1194048" y="623756"/>
                  </a:lnTo>
                  <a:lnTo>
                    <a:pt x="1202156" y="579553"/>
                  </a:lnTo>
                  <a:lnTo>
                    <a:pt x="1201211" y="534698"/>
                  </a:lnTo>
                  <a:lnTo>
                    <a:pt x="1190939" y="489367"/>
                  </a:lnTo>
                  <a:lnTo>
                    <a:pt x="1171066" y="443738"/>
                  </a:lnTo>
                  <a:lnTo>
                    <a:pt x="1149986" y="409905"/>
                  </a:lnTo>
                  <a:lnTo>
                    <a:pt x="1124052" y="377021"/>
                  </a:lnTo>
                  <a:lnTo>
                    <a:pt x="1093449" y="345133"/>
                  </a:lnTo>
                  <a:lnTo>
                    <a:pt x="1058360" y="314291"/>
                  </a:lnTo>
                  <a:lnTo>
                    <a:pt x="1018968" y="284543"/>
                  </a:lnTo>
                  <a:lnTo>
                    <a:pt x="975458" y="255938"/>
                  </a:lnTo>
                  <a:lnTo>
                    <a:pt x="928013" y="228525"/>
                  </a:lnTo>
                  <a:lnTo>
                    <a:pt x="876817" y="202352"/>
                  </a:lnTo>
                  <a:lnTo>
                    <a:pt x="822053" y="177469"/>
                  </a:lnTo>
                  <a:lnTo>
                    <a:pt x="763904" y="153924"/>
                  </a:lnTo>
                  <a:lnTo>
                    <a:pt x="723377" y="138969"/>
                  </a:lnTo>
                  <a:lnTo>
                    <a:pt x="681485" y="124644"/>
                  </a:lnTo>
                  <a:lnTo>
                    <a:pt x="638284" y="110965"/>
                  </a:lnTo>
                  <a:lnTo>
                    <a:pt x="593829" y="97945"/>
                  </a:lnTo>
                  <a:lnTo>
                    <a:pt x="548174" y="85597"/>
                  </a:lnTo>
                  <a:lnTo>
                    <a:pt x="501374" y="73938"/>
                  </a:lnTo>
                  <a:lnTo>
                    <a:pt x="453485" y="62980"/>
                  </a:lnTo>
                  <a:lnTo>
                    <a:pt x="404560" y="52738"/>
                  </a:lnTo>
                  <a:lnTo>
                    <a:pt x="354656" y="43226"/>
                  </a:lnTo>
                  <a:lnTo>
                    <a:pt x="303826" y="34459"/>
                  </a:lnTo>
                  <a:lnTo>
                    <a:pt x="252126" y="26450"/>
                  </a:lnTo>
                  <a:lnTo>
                    <a:pt x="199610" y="19214"/>
                  </a:lnTo>
                  <a:lnTo>
                    <a:pt x="146334" y="12765"/>
                  </a:lnTo>
                  <a:lnTo>
                    <a:pt x="92352" y="7118"/>
                  </a:lnTo>
                  <a:lnTo>
                    <a:pt x="37718" y="2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23454" y="3847845"/>
            <a:ext cx="854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Wa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 Tank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0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9982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98805"/>
            <a:ext cx="402971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b="1" spc="-3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2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sz="2400" b="1" spc="-13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sz="2400" b="1" spc="-2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TRE</a:t>
            </a:r>
            <a:r>
              <a:rPr sz="2400" b="1" spc="-229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spc="-3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19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LIGHT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400" b="1" spc="-16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2400" b="1" spc="-19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400" b="1" spc="-2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755"/>
              </a:lnSpc>
            </a:pPr>
            <a:r>
              <a:rPr spc="-10" dirty="0"/>
              <a:t>A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Block</a:t>
            </a:r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spc="-10" dirty="0"/>
              <a:t>WTP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spc="-5" dirty="0"/>
              <a:t>t</a:t>
            </a:r>
          </a:p>
          <a:p>
            <a:pPr>
              <a:lnSpc>
                <a:spcPts val="535"/>
              </a:lnSpc>
            </a:pPr>
            <a:r>
              <a:rPr spc="-5" dirty="0"/>
              <a:t>a</a:t>
            </a:r>
          </a:p>
          <a:p>
            <a:pPr>
              <a:lnSpc>
                <a:spcPts val="540"/>
              </a:lnSpc>
            </a:pPr>
            <a:r>
              <a:rPr spc="-5" dirty="0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spc="-5" dirty="0"/>
              <a:t>a </a:t>
            </a:r>
            <a:r>
              <a:rPr spc="60" dirty="0"/>
              <a:t> </a:t>
            </a:r>
            <a:r>
              <a:rPr spc="-5" dirty="0"/>
              <a:t>j</a:t>
            </a:r>
          </a:p>
          <a:p>
            <a:pPr>
              <a:lnSpc>
                <a:spcPts val="655"/>
              </a:lnSpc>
            </a:pPr>
            <a:r>
              <a:rPr spc="-5" dirty="0"/>
              <a:t>Ra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589010" cy="942975"/>
            <a:chOff x="408431" y="3109341"/>
            <a:chExt cx="8589010" cy="9429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659371" y="716102"/>
            <a:ext cx="218186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Disclaimer: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Updated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 By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Visit)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A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81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sz="800" spc="-10" dirty="0">
                <a:latin typeface="Calibri"/>
                <a:cs typeface="Calibri"/>
              </a:rPr>
              <a:t>A</a:t>
            </a:r>
            <a:r>
              <a:rPr sz="800" spc="-5" dirty="0">
                <a:latin typeface="Calibri"/>
                <a:cs typeface="Calibri"/>
              </a:rPr>
              <a:t>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sz="800" spc="-10" dirty="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Page:</a:t>
            </a:r>
            <a:r>
              <a:rPr spc="-35" dirty="0"/>
              <a:t> </a:t>
            </a: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855"/>
              </a:lnSpc>
            </a:pPr>
            <a:r>
              <a:rPr sz="800" dirty="0">
                <a:latin typeface="Calibri"/>
                <a:cs typeface="Calibri"/>
              </a:rPr>
              <a:t>R</a:t>
            </a:r>
            <a:r>
              <a:rPr sz="800" spc="5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jarh</a:t>
            </a:r>
            <a:r>
              <a:rPr sz="800" spc="-10" dirty="0">
                <a:latin typeface="Calibri"/>
                <a:cs typeface="Calibri"/>
              </a:rPr>
              <a:t>a</a:t>
            </a:r>
            <a:r>
              <a:rPr sz="800" dirty="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1119</Words>
  <Application>Microsoft Office PowerPoint</Application>
  <PresentationFormat>A4 Paper (210x297 mm)</PresentationFormat>
  <Paragraphs>572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Times New Roman</vt:lpstr>
      <vt:lpstr>Verdana</vt:lpstr>
      <vt:lpstr>Office Theme</vt:lpstr>
      <vt:lpstr>ACTION AREA I BLOCK AC</vt:lpstr>
      <vt:lpstr>Summary  Report</vt:lpstr>
      <vt:lpstr>PowerPoint Presentation</vt:lpstr>
      <vt:lpstr>ACTION AREA – I BLOCK OVERVIEW</vt:lpstr>
      <vt:lpstr>ACTION AREA – I BLOCK: ‘AC’ BOUNDARY</vt:lpstr>
      <vt:lpstr>ACTION AREA – I, BLOCK: ‘AC’ PLOT DETAILS PART 01</vt:lpstr>
      <vt:lpstr>ACTION AREA – I , BLOCK: ‘AC’ PLOT DETAILS PART 02</vt:lpstr>
      <vt:lpstr>ACTION AREA – I, BLOCK: AC BUILT-UP AREA</vt:lpstr>
      <vt:lpstr>ACTION AREA – I, BLOCK: ‘AC’ AMENITIES &amp; POI</vt:lpstr>
      <vt:lpstr>ACTION AREA – I, BLOCK: ‘AC’ OTHER FEATURES</vt:lpstr>
      <vt:lpstr>ACTION AREA – I, BLOCK: ‘AC’ ACTIONABLE POINTS</vt:lpstr>
      <vt:lpstr>ACTION AREA – I, BLOCK: ‘AC’  OCCUPIED UNTAXED AREA  (ENCROACHMENT)</vt:lpstr>
      <vt:lpstr>ACTION AREA – I, BLOCK: ‘AC’ ROAD DETAILS</vt:lpstr>
      <vt:lpstr>ACTION AREA – I, BLOCK: ‘AC’ FOOTPATH DETAILS</vt:lpstr>
      <vt:lpstr>ACTION AREA – I, BLOCK: ‘AC’ CYCLE TRACK DETAILS</vt:lpstr>
      <vt:lpstr>ACTION AREA – I, BLOCK: ‘AC’ WATERBODIES DETAILS</vt:lpstr>
      <vt:lpstr>ACTION AREA – I, BLOCK: ‘AC’ GREENERY DETAILS</vt:lpstr>
      <vt:lpstr>ACTION AREA – I, BLOCK: ‘AC’ WATER TANK</vt:lpstr>
      <vt:lpstr>ACTION AREA – I, BLOCK: ‘AC’ STREET-LIGHT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Subhendu Panja</dc:creator>
  <cp:lastModifiedBy>Rishav Chattopadhya</cp:lastModifiedBy>
  <cp:revision>2</cp:revision>
  <dcterms:created xsi:type="dcterms:W3CDTF">2023-06-16T18:28:06Z</dcterms:created>
  <dcterms:modified xsi:type="dcterms:W3CDTF">2023-06-20T13:46:12Z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2023-06-16T00:00:00Z</vt:filetime>
  </property>
</Properties>
</file>