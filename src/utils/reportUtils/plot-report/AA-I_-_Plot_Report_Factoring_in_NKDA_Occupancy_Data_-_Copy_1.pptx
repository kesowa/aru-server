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1" r:id="rId4"/>
    <p:sldId id="272" r:id="rId5"/>
    <p:sldId id="266" r:id="rId6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89C4"/>
    <a:srgbClr val="52AAC6"/>
    <a:srgbClr val="BADDE8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6374" autoAdjust="0"/>
  </p:normalViewPr>
  <p:slideViewPr>
    <p:cSldViewPr snapToGrid="0">
      <p:cViewPr>
        <p:scale>
          <a:sx n="112" d="100"/>
          <a:sy n="112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684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769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69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62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8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8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8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21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8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10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A1521-1894-414D-BC45-F258023506C6}" type="datetimeFigureOut">
              <a:rPr lang="en-IN" smtClean="0"/>
              <a:t>13-09-2023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53419-4868-4401-8E72-6E89216E7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6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706A78-9AA5-DE25-E06A-24FDC814A909}"/>
              </a:ext>
            </a:extLst>
          </p:cNvPr>
          <p:cNvSpPr txBox="1"/>
          <p:nvPr/>
        </p:nvSpPr>
        <p:spPr>
          <a:xfrm>
            <a:off x="1289397" y="356100"/>
            <a:ext cx="6416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 Antiqua" panose="02040602050305030304" pitchFamily="18" charset="0"/>
              </a:rPr>
              <a:t>AA-I - Plot Report Factoring in NKDA Occupancy Data</a:t>
            </a:r>
            <a:endParaRPr lang="en-IN" sz="2400" u="sng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865A47EE-1CBC-A6F3-6CCA-BBD0130E621B}"/>
              </a:ext>
            </a:extLst>
          </p:cNvPr>
          <p:cNvSpPr/>
          <p:nvPr/>
        </p:nvSpPr>
        <p:spPr>
          <a:xfrm rot="16200000">
            <a:off x="6085279" y="3045311"/>
            <a:ext cx="3437032" cy="4204410"/>
          </a:xfrm>
          <a:prstGeom prst="rtTriangle">
            <a:avLst/>
          </a:prstGeom>
          <a:solidFill>
            <a:srgbClr val="BADD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46" dirty="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B3153418-81C3-B800-21B2-E054C14404A2}"/>
              </a:ext>
            </a:extLst>
          </p:cNvPr>
          <p:cNvSpPr/>
          <p:nvPr/>
        </p:nvSpPr>
        <p:spPr>
          <a:xfrm rot="5400000" flipV="1">
            <a:off x="6206087" y="777496"/>
            <a:ext cx="4477409" cy="2922420"/>
          </a:xfrm>
          <a:prstGeom prst="rtTriangle">
            <a:avLst/>
          </a:prstGeom>
          <a:solidFill>
            <a:schemeClr val="accent3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46"/>
          </a:p>
        </p:txBody>
      </p:sp>
      <p:pic>
        <p:nvPicPr>
          <p:cNvPr id="11" name="image1.png">
            <a:extLst>
              <a:ext uri="{FF2B5EF4-FFF2-40B4-BE49-F238E27FC236}">
                <a16:creationId xmlns:a16="http://schemas.microsoft.com/office/drawing/2014/main" id="{7B085C54-5E8B-C341-DF92-0F345885E5D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2786" r="4538"/>
          <a:stretch/>
        </p:blipFill>
        <p:spPr>
          <a:xfrm>
            <a:off x="9330505" y="107712"/>
            <a:ext cx="452578" cy="49677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A0276C-3427-074C-0832-29B027E09F5F}"/>
              </a:ext>
            </a:extLst>
          </p:cNvPr>
          <p:cNvCxnSpPr>
            <a:cxnSpLocks/>
          </p:cNvCxnSpPr>
          <p:nvPr/>
        </p:nvCxnSpPr>
        <p:spPr>
          <a:xfrm>
            <a:off x="8125502" y="5978446"/>
            <a:ext cx="16700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BD33AB-F609-FAA6-BB16-CCFE255F8B4D}"/>
              </a:ext>
            </a:extLst>
          </p:cNvPr>
          <p:cNvSpPr txBox="1"/>
          <p:nvPr/>
        </p:nvSpPr>
        <p:spPr>
          <a:xfrm>
            <a:off x="8169520" y="5996107"/>
            <a:ext cx="1684124" cy="198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92" dirty="0">
                <a:latin typeface="Garamond" panose="02020404030301010803" pitchFamily="18" charset="0"/>
              </a:rPr>
              <a:t>Akash Adhikary &amp; Subhendu Kumar Panja</a:t>
            </a:r>
            <a:endParaRPr lang="en-IN" sz="692" dirty="0">
              <a:latin typeface="Garamond" panose="02020404030301010803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0609D4-D0FF-08E8-CA00-EA975C2598EE}"/>
              </a:ext>
            </a:extLst>
          </p:cNvPr>
          <p:cNvSpPr txBox="1"/>
          <p:nvPr/>
        </p:nvSpPr>
        <p:spPr>
          <a:xfrm>
            <a:off x="9040910" y="6109540"/>
            <a:ext cx="754635" cy="198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692" dirty="0">
                <a:latin typeface="Garamond" panose="02020404030301010803" pitchFamily="18" charset="0"/>
              </a:rPr>
              <a:t>dt.  13/09/2023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B1318A-6E69-BE77-466A-D33FF21E7AE6}"/>
              </a:ext>
            </a:extLst>
          </p:cNvPr>
          <p:cNvSpPr txBox="1"/>
          <p:nvPr/>
        </p:nvSpPr>
        <p:spPr>
          <a:xfrm>
            <a:off x="1550505" y="5423924"/>
            <a:ext cx="2496169" cy="6230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762" dirty="0">
                <a:latin typeface="Garamond" panose="02020404030301010803" pitchFamily="18" charset="0"/>
              </a:rPr>
              <a:t>This report is a part of an ongoing contract with Newtown Kolkata Development Authority and is issued for parties under contract only. Terms and Conditions of contract preside over all parties and their actors.</a:t>
            </a:r>
            <a:endParaRPr lang="en-IN" sz="762" dirty="0">
              <a:latin typeface="Garamond" panose="02020404030301010803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6F74EF-C2E5-8DF8-3F0B-3B3F332D78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560" y="6460217"/>
            <a:ext cx="461084" cy="37737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B8F154-918E-E471-8F80-6422D1FD1F45}"/>
              </a:ext>
            </a:extLst>
          </p:cNvPr>
          <p:cNvCxnSpPr>
            <a:cxnSpLocks/>
          </p:cNvCxnSpPr>
          <p:nvPr/>
        </p:nvCxnSpPr>
        <p:spPr>
          <a:xfrm>
            <a:off x="1639365" y="5423924"/>
            <a:ext cx="21099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2287D0D-A4AC-404A-F848-40DFA3216EF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505" y="1339929"/>
            <a:ext cx="5893904" cy="38880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7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8C77461-E3F3-2F14-AE2F-A8C4DB110AD1}"/>
              </a:ext>
            </a:extLst>
          </p:cNvPr>
          <p:cNvSpPr/>
          <p:nvPr/>
        </p:nvSpPr>
        <p:spPr>
          <a:xfrm>
            <a:off x="0" y="2832650"/>
            <a:ext cx="9906000" cy="1421295"/>
          </a:xfrm>
          <a:prstGeom prst="rect">
            <a:avLst/>
          </a:prstGeom>
          <a:solidFill>
            <a:srgbClr val="52AA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DD785-F991-25E1-2231-E5C0CA3813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648000"/>
            <a:ext cx="8949212" cy="59711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2954E3-6812-5EA5-C7E0-4BEBE19D2044}"/>
              </a:ext>
            </a:extLst>
          </p:cNvPr>
          <p:cNvSpPr/>
          <p:nvPr/>
        </p:nvSpPr>
        <p:spPr>
          <a:xfrm>
            <a:off x="7374834" y="108000"/>
            <a:ext cx="2441713" cy="445592"/>
          </a:xfrm>
          <a:prstGeom prst="rect">
            <a:avLst/>
          </a:prstGeom>
          <a:gradFill flip="none" rotWithShape="1">
            <a:gsLst>
              <a:gs pos="68000">
                <a:srgbClr val="52AAC6"/>
              </a:gs>
              <a:gs pos="23000">
                <a:srgbClr val="52AAC6"/>
              </a:gs>
              <a:gs pos="100000">
                <a:schemeClr val="bg1">
                  <a:lumMod val="85000"/>
                </a:schemeClr>
              </a:gs>
              <a:gs pos="50000">
                <a:srgbClr val="52AAC6">
                  <a:lumMod val="98000"/>
                </a:srgbClr>
              </a:gs>
              <a:gs pos="93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  <a:cs typeface="Arial" panose="020B0604020202020204" pitchFamily="34" charset="0"/>
              </a:rPr>
              <a:t>Block Image</a:t>
            </a:r>
            <a:endParaRPr lang="en-IN" sz="16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C38A9B7-5EEF-F69D-FF1C-DA7012E16268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51" t="20437" r="1522" b="18284"/>
          <a:stretch/>
        </p:blipFill>
        <p:spPr>
          <a:xfrm>
            <a:off x="4902803" y="4896570"/>
            <a:ext cx="2340000" cy="10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EA785D5-9B7D-520E-5993-E3AE82849AD8}"/>
              </a:ext>
            </a:extLst>
          </p:cNvPr>
          <p:cNvSpPr/>
          <p:nvPr/>
        </p:nvSpPr>
        <p:spPr>
          <a:xfrm rot="7090928" flipH="1" flipV="1">
            <a:off x="7444766" y="5016867"/>
            <a:ext cx="852483" cy="1113977"/>
          </a:xfrm>
          <a:custGeom>
            <a:avLst/>
            <a:gdLst>
              <a:gd name="connsiteX0" fmla="*/ 230835 w 649065"/>
              <a:gd name="connsiteY0" fmla="*/ 1788126 h 2272246"/>
              <a:gd name="connsiteX1" fmla="*/ 14230 w 649065"/>
              <a:gd name="connsiteY1" fmla="*/ 1015649 h 2272246"/>
              <a:gd name="connsiteX2" fmla="*/ 17596 w 649065"/>
              <a:gd name="connsiteY2" fmla="*/ 461536 h 2272246"/>
              <a:gd name="connsiteX3" fmla="*/ 58712 w 649065"/>
              <a:gd name="connsiteY3" fmla="*/ 244293 h 2272246"/>
              <a:gd name="connsiteX4" fmla="*/ 20184 w 649065"/>
              <a:gd name="connsiteY4" fmla="*/ 244293 h 2272246"/>
              <a:gd name="connsiteX5" fmla="*/ 127711 w 649065"/>
              <a:gd name="connsiteY5" fmla="*/ 0 h 2272246"/>
              <a:gd name="connsiteX6" fmla="*/ 235237 w 649065"/>
              <a:gd name="connsiteY6" fmla="*/ 244293 h 2272246"/>
              <a:gd name="connsiteX7" fmla="*/ 193186 w 649065"/>
              <a:gd name="connsiteY7" fmla="*/ 244293 h 2272246"/>
              <a:gd name="connsiteX8" fmla="*/ 175446 w 649065"/>
              <a:gd name="connsiteY8" fmla="*/ 297143 h 2272246"/>
              <a:gd name="connsiteX9" fmla="*/ 125408 w 649065"/>
              <a:gd name="connsiteY9" fmla="*/ 1097854 h 2272246"/>
              <a:gd name="connsiteX10" fmla="*/ 593103 w 649065"/>
              <a:gd name="connsiteY10" fmla="*/ 2228010 h 2272246"/>
              <a:gd name="connsiteX11" fmla="*/ 649065 w 649065"/>
              <a:gd name="connsiteY11" fmla="*/ 2272246 h 2272246"/>
              <a:gd name="connsiteX12" fmla="*/ 628262 w 649065"/>
              <a:gd name="connsiteY12" fmla="*/ 2261478 h 2272246"/>
              <a:gd name="connsiteX13" fmla="*/ 230835 w 649065"/>
              <a:gd name="connsiteY13" fmla="*/ 1788126 h 227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9065" h="2272246">
                <a:moveTo>
                  <a:pt x="230835" y="1788126"/>
                </a:moveTo>
                <a:cubicBezTo>
                  <a:pt x="122889" y="1572501"/>
                  <a:pt x="45080" y="1307020"/>
                  <a:pt x="14230" y="1015649"/>
                </a:cubicBezTo>
                <a:cubicBezTo>
                  <a:pt x="-6337" y="821400"/>
                  <a:pt x="-4086" y="634034"/>
                  <a:pt x="17596" y="461536"/>
                </a:cubicBezTo>
                <a:lnTo>
                  <a:pt x="58712" y="244293"/>
                </a:lnTo>
                <a:lnTo>
                  <a:pt x="20184" y="244293"/>
                </a:lnTo>
                <a:lnTo>
                  <a:pt x="127711" y="0"/>
                </a:lnTo>
                <a:lnTo>
                  <a:pt x="235237" y="244293"/>
                </a:lnTo>
                <a:lnTo>
                  <a:pt x="193186" y="244293"/>
                </a:lnTo>
                <a:lnTo>
                  <a:pt x="175446" y="297143"/>
                </a:lnTo>
                <a:cubicBezTo>
                  <a:pt x="115048" y="530593"/>
                  <a:pt x="94558" y="806481"/>
                  <a:pt x="125408" y="1097854"/>
                </a:cubicBezTo>
                <a:cubicBezTo>
                  <a:pt x="176825" y="1583473"/>
                  <a:pt x="358683" y="1997172"/>
                  <a:pt x="593103" y="2228010"/>
                </a:cubicBezTo>
                <a:lnTo>
                  <a:pt x="649065" y="2272246"/>
                </a:lnTo>
                <a:lnTo>
                  <a:pt x="628262" y="2261478"/>
                </a:lnTo>
                <a:cubicBezTo>
                  <a:pt x="476863" y="2169524"/>
                  <a:pt x="338780" y="2003752"/>
                  <a:pt x="230835" y="178812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CAE2EE-02FD-876B-872C-53B3785F0C76}"/>
              </a:ext>
            </a:extLst>
          </p:cNvPr>
          <p:cNvSpPr txBox="1"/>
          <p:nvPr/>
        </p:nvSpPr>
        <p:spPr>
          <a:xfrm>
            <a:off x="6738164" y="5761126"/>
            <a:ext cx="504639" cy="21544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AA/8</a:t>
            </a:r>
            <a:endParaRPr lang="en-IN" sz="800" b="1" dirty="0"/>
          </a:p>
        </p:txBody>
      </p:sp>
    </p:spTree>
    <p:extLst>
      <p:ext uri="{BB962C8B-B14F-4D97-AF65-F5344CB8AC3E}">
        <p14:creationId xmlns:p14="http://schemas.microsoft.com/office/powerpoint/2010/main" val="1151732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8C77461-E3F3-2F14-AE2F-A8C4DB110AD1}"/>
              </a:ext>
            </a:extLst>
          </p:cNvPr>
          <p:cNvSpPr/>
          <p:nvPr/>
        </p:nvSpPr>
        <p:spPr>
          <a:xfrm>
            <a:off x="0" y="2832650"/>
            <a:ext cx="9906000" cy="1421295"/>
          </a:xfrm>
          <a:prstGeom prst="rect">
            <a:avLst/>
          </a:prstGeom>
          <a:solidFill>
            <a:srgbClr val="52AA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2954E3-6812-5EA5-C7E0-4BEBE19D2044}"/>
              </a:ext>
            </a:extLst>
          </p:cNvPr>
          <p:cNvSpPr/>
          <p:nvPr/>
        </p:nvSpPr>
        <p:spPr>
          <a:xfrm>
            <a:off x="7374834" y="108000"/>
            <a:ext cx="2441713" cy="445592"/>
          </a:xfrm>
          <a:prstGeom prst="rect">
            <a:avLst/>
          </a:prstGeom>
          <a:gradFill flip="none" rotWithShape="1">
            <a:gsLst>
              <a:gs pos="68000">
                <a:srgbClr val="52AAC6"/>
              </a:gs>
              <a:gs pos="23000">
                <a:srgbClr val="52AAC6"/>
              </a:gs>
              <a:gs pos="100000">
                <a:schemeClr val="bg1">
                  <a:lumMod val="85000"/>
                </a:schemeClr>
              </a:gs>
              <a:gs pos="50000">
                <a:srgbClr val="52AAC6">
                  <a:lumMod val="98000"/>
                </a:srgbClr>
              </a:gs>
              <a:gs pos="93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  <a:cs typeface="Arial" panose="020B0604020202020204" pitchFamily="34" charset="0"/>
              </a:rPr>
              <a:t>Plot Image</a:t>
            </a:r>
            <a:endParaRPr lang="en-IN" sz="16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C25769-69DB-81E5-0089-33D72EA019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648000"/>
            <a:ext cx="8949600" cy="59724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377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8C77461-E3F3-2F14-AE2F-A8C4DB110AD1}"/>
              </a:ext>
            </a:extLst>
          </p:cNvPr>
          <p:cNvSpPr/>
          <p:nvPr/>
        </p:nvSpPr>
        <p:spPr>
          <a:xfrm>
            <a:off x="0" y="2832650"/>
            <a:ext cx="9906000" cy="1421295"/>
          </a:xfrm>
          <a:prstGeom prst="rect">
            <a:avLst/>
          </a:prstGeom>
          <a:solidFill>
            <a:srgbClr val="52AA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2954E3-6812-5EA5-C7E0-4BEBE19D2044}"/>
              </a:ext>
            </a:extLst>
          </p:cNvPr>
          <p:cNvSpPr/>
          <p:nvPr/>
        </p:nvSpPr>
        <p:spPr>
          <a:xfrm>
            <a:off x="7374834" y="108000"/>
            <a:ext cx="2441713" cy="445592"/>
          </a:xfrm>
          <a:prstGeom prst="rect">
            <a:avLst/>
          </a:prstGeom>
          <a:gradFill flip="none" rotWithShape="1">
            <a:gsLst>
              <a:gs pos="68000">
                <a:srgbClr val="52AAC6"/>
              </a:gs>
              <a:gs pos="23000">
                <a:srgbClr val="52AAC6"/>
              </a:gs>
              <a:gs pos="100000">
                <a:schemeClr val="bg1">
                  <a:lumMod val="85000"/>
                </a:schemeClr>
              </a:gs>
              <a:gs pos="50000">
                <a:srgbClr val="52AAC6">
                  <a:lumMod val="98000"/>
                </a:srgbClr>
              </a:gs>
              <a:gs pos="93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  <a:cs typeface="Arial" panose="020B0604020202020204" pitchFamily="34" charset="0"/>
              </a:rPr>
              <a:t>Front View Image</a:t>
            </a:r>
            <a:endParaRPr lang="en-IN" sz="16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01B80-7FA5-F5F3-79A2-427A189D666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51" t="20437" r="1522" b="18284"/>
          <a:stretch/>
        </p:blipFill>
        <p:spPr>
          <a:xfrm>
            <a:off x="720000" y="648000"/>
            <a:ext cx="8949600" cy="5972400"/>
          </a:xfrm>
          <a:prstGeom prst="rect">
            <a:avLst/>
          </a:prstGeom>
          <a:ln w="19050">
            <a:solidFill>
              <a:schemeClr val="tx1"/>
            </a:solidFill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DE39F-2576-4D50-B7AA-3377BC070A73}"/>
              </a:ext>
            </a:extLst>
          </p:cNvPr>
          <p:cNvSpPr txBox="1"/>
          <p:nvPr/>
        </p:nvSpPr>
        <p:spPr>
          <a:xfrm>
            <a:off x="616225" y="434792"/>
            <a:ext cx="1083367" cy="23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Garamond" panose="02020404030301010803" pitchFamily="18" charset="0"/>
              </a:rPr>
              <a:t>(D.o.C: 04.01.2022)</a:t>
            </a:r>
            <a:endParaRPr lang="en-IN" sz="9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2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67B7AA3-1BE5-AFD0-C8F0-27D0F45FE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198465"/>
              </p:ext>
            </p:extLst>
          </p:nvPr>
        </p:nvGraphicFramePr>
        <p:xfrm>
          <a:off x="462454" y="96954"/>
          <a:ext cx="9304086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0462">
                  <a:extLst>
                    <a:ext uri="{9D8B030D-6E8A-4147-A177-3AD203B41FA5}">
                      <a16:colId xmlns:a16="http://schemas.microsoft.com/office/drawing/2014/main" val="2624188325"/>
                    </a:ext>
                  </a:extLst>
                </a:gridCol>
                <a:gridCol w="1963624">
                  <a:extLst>
                    <a:ext uri="{9D8B030D-6E8A-4147-A177-3AD203B41FA5}">
                      <a16:colId xmlns:a16="http://schemas.microsoft.com/office/drawing/2014/main" val="33395834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Garamond" panose="02020404030301010803" pitchFamily="18" charset="0"/>
                        </a:rPr>
                        <a:t>Annual Invoice Commitment to Resident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Garamond" panose="02020404030301010803" pitchFamily="18" charset="0"/>
                        </a:rPr>
                        <a:t>Name: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Garamond" panose="02020404030301010803" pitchFamily="18" charset="0"/>
                        </a:rPr>
                        <a:t>Address: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Garamond" panose="02020404030301010803" pitchFamily="18" charset="0"/>
                        </a:rPr>
                        <a:t>Block: AA</a:t>
                      </a: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95163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481782-F94E-78B4-8FFA-42876AE57A84}"/>
              </a:ext>
            </a:extLst>
          </p:cNvPr>
          <p:cNvSpPr/>
          <p:nvPr/>
        </p:nvSpPr>
        <p:spPr>
          <a:xfrm>
            <a:off x="462454" y="96953"/>
            <a:ext cx="9304086" cy="664890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F661F-19DA-9BC9-A035-6F98B39CCB71}"/>
              </a:ext>
            </a:extLst>
          </p:cNvPr>
          <p:cNvSpPr txBox="1"/>
          <p:nvPr/>
        </p:nvSpPr>
        <p:spPr>
          <a:xfrm>
            <a:off x="462454" y="673614"/>
            <a:ext cx="9304086" cy="276999"/>
          </a:xfrm>
          <a:prstGeom prst="rect">
            <a:avLst/>
          </a:prstGeom>
          <a:solidFill>
            <a:srgbClr val="52AAC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Plot Data</a:t>
            </a:r>
            <a:endParaRPr lang="en-IN" sz="1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228904-E26C-0588-E955-1E046647A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78540"/>
              </p:ext>
            </p:extLst>
          </p:nvPr>
        </p:nvGraphicFramePr>
        <p:xfrm>
          <a:off x="462454" y="958307"/>
          <a:ext cx="9304086" cy="30194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82361">
                  <a:extLst>
                    <a:ext uri="{9D8B030D-6E8A-4147-A177-3AD203B41FA5}">
                      <a16:colId xmlns:a16="http://schemas.microsoft.com/office/drawing/2014/main" val="1387095237"/>
                    </a:ext>
                  </a:extLst>
                </a:gridCol>
                <a:gridCol w="3621725">
                  <a:extLst>
                    <a:ext uri="{9D8B030D-6E8A-4147-A177-3AD203B41FA5}">
                      <a16:colId xmlns:a16="http://schemas.microsoft.com/office/drawing/2014/main" val="1807577629"/>
                    </a:ext>
                  </a:extLst>
                </a:gridCol>
              </a:tblGrid>
              <a:tr h="59562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Plot No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AA/8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8807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Premises No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18-0072Pl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1065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Plot Area (Sq.mt)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333.62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05908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Building Available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Yes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22791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Pincode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700163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8687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Plot Category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Residential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8893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No. </a:t>
                      </a:r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ea typeface="Lato" panose="020F0502020204030204" pitchFamily="34" charset="0"/>
                          <a:cs typeface="Helvetica" panose="020B0604020202020204" pitchFamily="34" charset="0"/>
                        </a:rPr>
                        <a:t>of</a:t>
                      </a:r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 Floor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G+4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65449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Sanctioned Building No.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26783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Building Area (Sq.mt)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186.17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39401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Building Footprint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55.80%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61049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Completion Certificate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40870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Average Building Height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2972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Infraction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806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Eligible For Green Top / Solar Plant Incentives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Yes/no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4241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Trade License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No Available Record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3801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Property Tax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cs typeface="Helvetica" panose="020B0604020202020204" pitchFamily="34" charset="0"/>
                        </a:rPr>
                        <a:t>No Available Record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82349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B2559F-D0F3-814D-8A26-7E41A08E07BD}"/>
              </a:ext>
            </a:extLst>
          </p:cNvPr>
          <p:cNvSpPr txBox="1"/>
          <p:nvPr/>
        </p:nvSpPr>
        <p:spPr>
          <a:xfrm>
            <a:off x="462454" y="4094522"/>
            <a:ext cx="9304086" cy="276999"/>
          </a:xfrm>
          <a:prstGeom prst="rect">
            <a:avLst/>
          </a:prstGeom>
          <a:solidFill>
            <a:srgbClr val="52AAC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aramond" panose="02020404030301010803" pitchFamily="18" charset="0"/>
              </a:rPr>
              <a:t>Block Data</a:t>
            </a:r>
            <a:endParaRPr lang="en-IN" sz="1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EE6E457-2818-0143-A1FF-11B5120E4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857733"/>
              </p:ext>
            </p:extLst>
          </p:nvPr>
        </p:nvGraphicFramePr>
        <p:xfrm>
          <a:off x="462454" y="4379215"/>
          <a:ext cx="9304085" cy="16573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82361">
                  <a:extLst>
                    <a:ext uri="{9D8B030D-6E8A-4147-A177-3AD203B41FA5}">
                      <a16:colId xmlns:a16="http://schemas.microsoft.com/office/drawing/2014/main" val="1387095237"/>
                    </a:ext>
                  </a:extLst>
                </a:gridCol>
                <a:gridCol w="2563643">
                  <a:extLst>
                    <a:ext uri="{9D8B030D-6E8A-4147-A177-3AD203B41FA5}">
                      <a16:colId xmlns:a16="http://schemas.microsoft.com/office/drawing/2014/main" val="1807577629"/>
                    </a:ext>
                  </a:extLst>
                </a:gridCol>
                <a:gridCol w="1058081">
                  <a:extLst>
                    <a:ext uri="{9D8B030D-6E8A-4147-A177-3AD203B41FA5}">
                      <a16:colId xmlns:a16="http://schemas.microsoft.com/office/drawing/2014/main" val="45304413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IN" sz="1000" u="none" strike="noStrike" dirty="0">
                          <a:effectLst/>
                          <a:latin typeface="Garamond" panose="02020404030301010803" pitchFamily="18" charset="0"/>
                        </a:rPr>
                        <a:t>Garbage Collector Information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065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Average Building Height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5908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Average Block Height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2791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Average Incentives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868711"/>
                  </a:ext>
                </a:extLst>
              </a:tr>
              <a:tr h="92937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788872"/>
                  </a:ext>
                </a:extLst>
              </a:tr>
              <a:tr h="190500">
                <a:tc rowSpan="4">
                  <a:txBody>
                    <a:bodyPr/>
                    <a:lstStyle/>
                    <a:p>
                      <a:pPr lvl="1"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Block Insights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893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Water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%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06285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Green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%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692376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Tree Canopy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</a:rPr>
                        <a:t>%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73849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523A7AC-6DA7-7145-F67B-E9FC7DB9A918}"/>
              </a:ext>
            </a:extLst>
          </p:cNvPr>
          <p:cNvSpPr txBox="1"/>
          <p:nvPr/>
        </p:nvSpPr>
        <p:spPr>
          <a:xfrm>
            <a:off x="3511667" y="6091129"/>
            <a:ext cx="3394843" cy="600164"/>
          </a:xfrm>
          <a:prstGeom prst="rect">
            <a:avLst/>
          </a:prstGeom>
          <a:solidFill>
            <a:srgbClr val="52AAC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Garamond" panose="02020404030301010803" pitchFamily="18" charset="0"/>
              </a:rPr>
              <a:t>Block Announcement</a:t>
            </a:r>
          </a:p>
          <a:p>
            <a:endParaRPr lang="en-US" sz="1100" b="1" dirty="0"/>
          </a:p>
          <a:p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3735618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648</TotalTime>
  <Words>185</Words>
  <Application>Microsoft Office PowerPoint</Application>
  <PresentationFormat>A4 Paper (210x297 mm)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Book Antiqua</vt:lpstr>
      <vt:lpstr>Calibri</vt:lpstr>
      <vt:lpstr>Calibri Light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Somashree Dey</dc:creator>
  <cp:lastModifiedBy>Somashree Dey</cp:lastModifiedBy>
  <cp:revision>25</cp:revision>
  <dcterms:created xsi:type="dcterms:W3CDTF">2023-08-04T05:37:33Z</dcterms:created>
  <dcterms:modified xsi:type="dcterms:W3CDTF">2023-09-13T10:09:58Z</dcterms:modified>
</cp:coreProperties>
</file>